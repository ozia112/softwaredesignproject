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73" r:id="rId6"/>
    <p:sldId id="260" r:id="rId7"/>
    <p:sldId id="274" r:id="rId8"/>
    <p:sldId id="261" r:id="rId9"/>
    <p:sldId id="271" r:id="rId10"/>
    <p:sldId id="262" r:id="rId11"/>
    <p:sldId id="272" r:id="rId12"/>
    <p:sldId id="263" r:id="rId13"/>
    <p:sldId id="264" r:id="rId14"/>
    <p:sldId id="265" r:id="rId15"/>
    <p:sldId id="266" r:id="rId16"/>
    <p:sldId id="267" r:id="rId17"/>
    <p:sldId id="275" r:id="rId18"/>
    <p:sldId id="268" r:id="rId19"/>
    <p:sldId id="269" r:id="rId20"/>
    <p:sldId id="270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65836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0">
                <a:solidFill>
                  <a:srgbClr val="CDE1E4"/>
                </a:solidFill>
                <a:latin typeface="Trebuchet MS"/>
              </a:rPr>
              <a:t>Diseño de Software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7498079" cy="123444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Trebuchet MS"/>
              </a:rPr>
              <a:t>Orquestador de Bot
WhatsApp para Eventos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606040"/>
            <a:ext cx="80467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0">
                <a:solidFill>
                  <a:srgbClr val="D2E8E6"/>
                </a:solidFill>
                <a:latin typeface="Calibri"/>
              </a:rPr>
              <a:t>MVP · arquitectura modular · tool calls · continuidad conversacional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5989320"/>
            <a:ext cx="5577840" cy="402336"/>
          </a:xfrm>
          <a:prstGeom prst="roundRect">
            <a:avLst/>
          </a:prstGeom>
          <a:solidFill>
            <a:srgbClr val="EF6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Carrillo Alvarado Maximiliano  ·  Ortiz Zaldivar Isaac Alejandro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31936" y="1316736"/>
            <a:ext cx="1193292" cy="416052"/>
          </a:xfrm>
          <a:prstGeom prst="line">
            <a:avLst/>
          </a:prstGeom>
          <a:ln w="15240">
            <a:solidFill>
              <a:srgbClr val="A0BE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631936" y="1316736"/>
            <a:ext cx="384048" cy="1252728"/>
          </a:xfrm>
          <a:prstGeom prst="line">
            <a:avLst/>
          </a:prstGeom>
          <a:ln w="15240">
            <a:solidFill>
              <a:srgbClr val="A0BE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825228" y="1732788"/>
            <a:ext cx="608076" cy="1248156"/>
          </a:xfrm>
          <a:prstGeom prst="line">
            <a:avLst/>
          </a:prstGeom>
          <a:ln w="15240">
            <a:solidFill>
              <a:srgbClr val="A0BE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015984" y="2569464"/>
            <a:ext cx="1417320" cy="411480"/>
          </a:xfrm>
          <a:prstGeom prst="line">
            <a:avLst/>
          </a:prstGeom>
          <a:ln w="15240">
            <a:solidFill>
              <a:srgbClr val="A0BE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015984" y="2569464"/>
            <a:ext cx="429768" cy="1207008"/>
          </a:xfrm>
          <a:prstGeom prst="line">
            <a:avLst/>
          </a:prstGeom>
          <a:ln w="15240">
            <a:solidFill>
              <a:srgbClr val="A0BE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433304" y="2980944"/>
            <a:ext cx="416052" cy="1330452"/>
          </a:xfrm>
          <a:prstGeom prst="line">
            <a:avLst/>
          </a:prstGeom>
          <a:ln w="15240">
            <a:solidFill>
              <a:srgbClr val="A0BE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8677655" y="3776472"/>
            <a:ext cx="768097" cy="1243583"/>
          </a:xfrm>
          <a:prstGeom prst="line">
            <a:avLst/>
          </a:prstGeom>
          <a:ln w="15240">
            <a:solidFill>
              <a:srgbClr val="A0BE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8677655" y="4311396"/>
            <a:ext cx="2171701" cy="708659"/>
          </a:xfrm>
          <a:prstGeom prst="line">
            <a:avLst/>
          </a:prstGeom>
          <a:ln w="15240">
            <a:solidFill>
              <a:srgbClr val="A0BE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8503919" y="1188720"/>
            <a:ext cx="256032" cy="256032"/>
          </a:xfrm>
          <a:prstGeom prst="ellipse">
            <a:avLst/>
          </a:prstGeom>
          <a:solidFill>
            <a:srgbClr val="2ECC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738359" y="1645920"/>
            <a:ext cx="173736" cy="173736"/>
          </a:xfrm>
          <a:prstGeom prst="ellipse">
            <a:avLst/>
          </a:prstGeom>
          <a:solidFill>
            <a:srgbClr val="EF6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915400" y="2468880"/>
            <a:ext cx="201168" cy="201168"/>
          </a:xfrm>
          <a:prstGeom prst="ellipse">
            <a:avLst/>
          </a:prstGeom>
          <a:solidFill>
            <a:srgbClr val="F6C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287000" y="2834639"/>
            <a:ext cx="292608" cy="292608"/>
          </a:xfrm>
          <a:prstGeom prst="ellipse">
            <a:avLst/>
          </a:prstGeom>
          <a:solidFill>
            <a:srgbClr val="2ECC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372600" y="3703320"/>
            <a:ext cx="146304" cy="146304"/>
          </a:xfrm>
          <a:prstGeom prst="ellipse">
            <a:avLst/>
          </a:prstGeom>
          <a:solidFill>
            <a:srgbClr val="695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744200" y="4206240"/>
            <a:ext cx="210312" cy="210312"/>
          </a:xfrm>
          <a:prstGeom prst="ellipse">
            <a:avLst/>
          </a:prstGeom>
          <a:solidFill>
            <a:srgbClr val="EF6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595359" y="4937759"/>
            <a:ext cx="164592" cy="164592"/>
          </a:xfrm>
          <a:prstGeom prst="ellips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9966960" cy="50292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/>
            <a:r>
              <a:rPr sz="3000" b="1">
                <a:solidFill>
                  <a:srgbClr val="121C36"/>
                </a:solidFill>
                <a:latin typeface="Trebuchet MS"/>
              </a:rPr>
              <a:t>VERSIÓN MÍNIMA DEL PRODUCTO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89611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616C7D"/>
                </a:solidFill>
                <a:latin typeface="Calibri"/>
              </a:rPr>
              <a:t>Qué hace el sistema en su primera entrega funcional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35640" y="329184"/>
            <a:ext cx="658368" cy="384048"/>
          </a:xfrm>
          <a:prstGeom prst="roundRect">
            <a:avLst/>
          </a:prstGeom>
          <a:solidFill>
            <a:srgbClr val="12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2148840" cy="1225296"/>
          </a:xfrm>
          <a:prstGeom prst="round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618488"/>
            <a:ext cx="1993392" cy="438912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ctr"/>
            <a:r>
              <a:rPr sz="2900" b="1">
                <a:solidFill>
                  <a:srgbClr val="FFFFFF"/>
                </a:solidFill>
                <a:latin typeface="Calibri"/>
              </a:rPr>
              <a:t>WhatsApp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167128"/>
            <a:ext cx="192024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canal inicial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4680" y="1417320"/>
            <a:ext cx="2148840" cy="1225296"/>
          </a:xfrm>
          <a:prstGeom prst="roundRect">
            <a:avLst/>
          </a:prstGeom>
          <a:solidFill>
            <a:srgbClr val="EF6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27832" y="1618488"/>
            <a:ext cx="1993392" cy="438912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ctr"/>
            <a:r>
              <a:rPr sz="2900" b="1">
                <a:solidFill>
                  <a:srgbClr val="FFFFFF"/>
                </a:solidFill>
                <a:latin typeface="Calibri"/>
              </a:rPr>
              <a:t>&lt; 2s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64408" y="2167128"/>
            <a:ext cx="192024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respuesta típica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7840" y="1417320"/>
            <a:ext cx="2148840" cy="1225296"/>
          </a:xfrm>
          <a:prstGeom prst="roundRect">
            <a:avLst/>
          </a:prstGeom>
          <a:solidFill>
            <a:srgbClr val="12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50992" y="1618488"/>
            <a:ext cx="1993392" cy="438912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ctr"/>
            <a:r>
              <a:rPr sz="2900" b="1">
                <a:solidFill>
                  <a:srgbClr val="FFFFFF"/>
                </a:solidFill>
                <a:latin typeface="Calibri"/>
              </a:rPr>
              <a:t>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87568" y="2167128"/>
            <a:ext cx="192024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conversaciones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417320"/>
            <a:ext cx="2148840" cy="1225296"/>
          </a:xfrm>
          <a:prstGeom prst="roundRect">
            <a:avLst/>
          </a:prstGeom>
          <a:solidFill>
            <a:srgbClr val="695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74152" y="1618488"/>
            <a:ext cx="1993392" cy="438912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ctr"/>
            <a:r>
              <a:rPr sz="2900" b="1">
                <a:solidFill>
                  <a:srgbClr val="FFFFFF"/>
                </a:solidFill>
                <a:latin typeface="Calibri"/>
              </a:rPr>
              <a:t>30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0727" y="2167128"/>
            <a:ext cx="192024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continuidad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246120"/>
            <a:ext cx="33375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77240" y="3246120"/>
            <a:ext cx="73152" cy="11430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78408" y="3374136"/>
            <a:ext cx="3017520" cy="292608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 algn="l"/>
            <a:r>
              <a:rPr sz="1500" b="1">
                <a:solidFill>
                  <a:srgbClr val="00897B"/>
                </a:solidFill>
                <a:latin typeface="Calibri"/>
              </a:rPr>
              <a:t>Función central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3739896"/>
            <a:ext cx="3017520" cy="576072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l"/>
            <a:r>
              <a:rPr sz="1250" b="0">
                <a:solidFill>
                  <a:srgbClr val="262B34"/>
                </a:solidFill>
                <a:latin typeface="Calibri"/>
              </a:rPr>
              <a:t>El Bot responde preguntas comunes de eventos: horarios, cupo, costo y próximos pasos.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246120"/>
            <a:ext cx="33375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434840" y="3246120"/>
            <a:ext cx="73152" cy="1143000"/>
          </a:xfrm>
          <a:prstGeom prst="rect">
            <a:avLst/>
          </a:prstGeom>
          <a:solidFill>
            <a:srgbClr val="EF6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36007" y="3374136"/>
            <a:ext cx="3017520" cy="292608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 algn="l"/>
            <a:r>
              <a:rPr sz="1500" b="1">
                <a:solidFill>
                  <a:srgbClr val="EF6351"/>
                </a:solidFill>
                <a:latin typeface="Calibri"/>
              </a:rPr>
              <a:t>Cuando hay cupo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36007" y="3739896"/>
            <a:ext cx="3017520" cy="5760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50" b="0">
                <a:solidFill>
                  <a:srgbClr val="262B34"/>
                </a:solidFill>
                <a:latin typeface="Calibri"/>
              </a:rPr>
              <a:t>El sistema guía el siguiente paso y, si aplica, transfiere a un operador para cerrar.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246120"/>
            <a:ext cx="33375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092440" y="3246120"/>
            <a:ext cx="73152" cy="1143000"/>
          </a:xfrm>
          <a:prstGeom prst="rect">
            <a:avLst/>
          </a:prstGeom>
          <a:solidFill>
            <a:srgbClr val="12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93608" y="3374136"/>
            <a:ext cx="3017520" cy="292608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 algn="l"/>
            <a:r>
              <a:rPr sz="1500" b="1">
                <a:solidFill>
                  <a:srgbClr val="121C36"/>
                </a:solidFill>
                <a:latin typeface="Calibri"/>
              </a:rPr>
              <a:t>Cuando está lleno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3608" y="3739896"/>
            <a:ext cx="3017520" cy="576072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l"/>
            <a:r>
              <a:rPr sz="1250" b="0">
                <a:solidFill>
                  <a:srgbClr val="262B34"/>
                </a:solidFill>
                <a:latin typeface="Calibri"/>
              </a:rPr>
              <a:t>Avisa “evento lleno” y ofrece lista de espera si la persona está en etapa comercial Prospecto.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9966960" cy="50292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/>
            <a:r>
              <a:rPr sz="3000" b="1">
                <a:solidFill>
                  <a:srgbClr val="121C36"/>
                </a:solidFill>
                <a:latin typeface="Trebuchet MS"/>
              </a:rPr>
              <a:t>ESCENARIO DE DEMO DEL MVP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89611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616C7D"/>
                </a:solidFill>
                <a:latin typeface="Calibri"/>
              </a:rPr>
              <a:t>Tres preguntas simples que prueban el flujo principal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35640" y="329184"/>
            <a:ext cx="658368" cy="384048"/>
          </a:xfrm>
          <a:prstGeom prst="roundRect">
            <a:avLst/>
          </a:prstGeom>
          <a:solidFill>
            <a:srgbClr val="12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6" name="Oval 5"/>
          <p:cNvSpPr/>
          <p:nvPr/>
        </p:nvSpPr>
        <p:spPr>
          <a:xfrm>
            <a:off x="2240280" y="1325880"/>
            <a:ext cx="530352" cy="530352"/>
          </a:xfrm>
          <a:prstGeom prst="ellips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40280" y="1426464"/>
            <a:ext cx="530352" cy="201168"/>
          </a:xfrm>
          <a:prstGeom prst="rect">
            <a:avLst/>
          </a:prstGeom>
          <a:noFill/>
        </p:spPr>
        <p:txBody>
          <a:bodyPr wrap="square">
            <a:normAutofit fontScale="70000" lnSpcReduction="20000"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057400"/>
            <a:ext cx="31546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2960" y="2057400"/>
            <a:ext cx="73152" cy="20574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8" y="2185416"/>
            <a:ext cx="2834640" cy="292608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 algn="l"/>
            <a:r>
              <a:rPr sz="1500" b="1">
                <a:solidFill>
                  <a:srgbClr val="00897B"/>
                </a:solidFill>
                <a:latin typeface="Calibri"/>
              </a:rPr>
              <a:t>¿Información del evento X?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551176"/>
            <a:ext cx="2834640" cy="1490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262B34"/>
                </a:solidFill>
                <a:latin typeface="Calibri"/>
              </a:rPr>
              <a:t>Resumen, horarios y datos básicos del evento.</a:t>
            </a:r>
          </a:p>
        </p:txBody>
      </p:sp>
      <p:sp>
        <p:nvSpPr>
          <p:cNvPr id="12" name="Oval 11"/>
          <p:cNvSpPr/>
          <p:nvPr/>
        </p:nvSpPr>
        <p:spPr>
          <a:xfrm>
            <a:off x="5989320" y="1325880"/>
            <a:ext cx="530352" cy="530352"/>
          </a:xfrm>
          <a:prstGeom prst="ellipse">
            <a:avLst/>
          </a:prstGeom>
          <a:solidFill>
            <a:srgbClr val="EF6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89320" y="1426464"/>
            <a:ext cx="530352" cy="201168"/>
          </a:xfrm>
          <a:prstGeom prst="rect">
            <a:avLst/>
          </a:prstGeom>
          <a:noFill/>
        </p:spPr>
        <p:txBody>
          <a:bodyPr wrap="square">
            <a:normAutofit fontScale="70000" lnSpcReduction="20000"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2057400"/>
            <a:ext cx="31546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0" y="2057400"/>
            <a:ext cx="73152" cy="2057400"/>
          </a:xfrm>
          <a:prstGeom prst="rect">
            <a:avLst/>
          </a:prstGeom>
          <a:solidFill>
            <a:srgbClr val="EF6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73168" y="2185416"/>
            <a:ext cx="2834640" cy="292608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 algn="l"/>
            <a:r>
              <a:rPr sz="1500" b="1">
                <a:solidFill>
                  <a:srgbClr val="EF6351"/>
                </a:solidFill>
                <a:latin typeface="Calibri"/>
              </a:rPr>
              <a:t>¿Hay cupo para X evento?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73168" y="2551176"/>
            <a:ext cx="2834640" cy="1490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262B34"/>
                </a:solidFill>
                <a:latin typeface="Calibri"/>
              </a:rPr>
              <a:t>Consulta en tiempo real y respuesta según disponibilidad.</a:t>
            </a:r>
          </a:p>
        </p:txBody>
      </p:sp>
      <p:sp>
        <p:nvSpPr>
          <p:cNvPr id="18" name="Oval 17"/>
          <p:cNvSpPr/>
          <p:nvPr/>
        </p:nvSpPr>
        <p:spPr>
          <a:xfrm>
            <a:off x="9738360" y="1325880"/>
            <a:ext cx="530352" cy="530352"/>
          </a:xfrm>
          <a:prstGeom prst="ellipse">
            <a:avLst/>
          </a:prstGeom>
          <a:solidFill>
            <a:srgbClr val="695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738360" y="1426464"/>
            <a:ext cx="530352" cy="201168"/>
          </a:xfrm>
          <a:prstGeom prst="rect">
            <a:avLst/>
          </a:prstGeom>
          <a:noFill/>
        </p:spPr>
        <p:txBody>
          <a:bodyPr wrap="square">
            <a:normAutofit fontScale="70000" lnSpcReduction="20000"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0" y="2057400"/>
            <a:ext cx="31546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321040" y="2057400"/>
            <a:ext cx="73152" cy="2057400"/>
          </a:xfrm>
          <a:prstGeom prst="rect">
            <a:avLst/>
          </a:prstGeom>
          <a:solidFill>
            <a:srgbClr val="695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22208" y="2185416"/>
            <a:ext cx="2834640" cy="292608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 algn="l"/>
            <a:r>
              <a:rPr sz="1500" b="1">
                <a:solidFill>
                  <a:srgbClr val="6952BE"/>
                </a:solidFill>
                <a:latin typeface="Calibri"/>
              </a:rPr>
              <a:t>Si está lleno, ¿qué opciones tengo?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22208" y="2551176"/>
            <a:ext cx="2834640" cy="1490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262B34"/>
                </a:solidFill>
                <a:latin typeface="Calibri"/>
              </a:rPr>
              <a:t>Lista de espera, alternativas o transferencia según etapa.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566160" y="3090672"/>
            <a:ext cx="777240" cy="0"/>
          </a:xfrm>
          <a:prstGeom prst="line">
            <a:avLst/>
          </a:prstGeom>
          <a:ln w="19050">
            <a:solidFill>
              <a:srgbClr val="616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315200" y="3090672"/>
            <a:ext cx="777240" cy="0"/>
          </a:xfrm>
          <a:prstGeom prst="line">
            <a:avLst/>
          </a:prstGeom>
          <a:ln w="19050">
            <a:solidFill>
              <a:srgbClr val="616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9966960" cy="50292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/>
            <a:r>
              <a:rPr sz="3000" b="1">
                <a:solidFill>
                  <a:srgbClr val="121C36"/>
                </a:solidFill>
                <a:latin typeface="Trebuchet MS"/>
              </a:rPr>
              <a:t>MAPA DEL MVP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89611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616C7D"/>
                </a:solidFill>
                <a:latin typeface="Calibri"/>
              </a:rPr>
              <a:t>Separación clara entre canal, Bot, orquestador y dominio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35640" y="329184"/>
            <a:ext cx="658368" cy="384048"/>
          </a:xfrm>
          <a:prstGeom prst="roundRect">
            <a:avLst/>
          </a:prstGeom>
          <a:solidFill>
            <a:srgbClr val="12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15087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2377440"/>
            <a:ext cx="73152" cy="96012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2505456"/>
            <a:ext cx="1188719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00897B"/>
                </a:solidFill>
                <a:latin typeface="Calibri"/>
              </a:rPr>
              <a:t>WhatsApp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871216"/>
            <a:ext cx="1188719" cy="3931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262B34"/>
                </a:solidFill>
                <a:latin typeface="Calibri"/>
              </a:rPr>
              <a:t>entrada/salida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51760" y="2377440"/>
            <a:ext cx="15087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651760" y="2377440"/>
            <a:ext cx="73152" cy="960120"/>
          </a:xfrm>
          <a:prstGeom prst="rect">
            <a:avLst/>
          </a:prstGeom>
          <a:solidFill>
            <a:srgbClr val="EF6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52928" y="2505456"/>
            <a:ext cx="1188719" cy="292608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 algn="l"/>
            <a:r>
              <a:rPr sz="1300" b="1">
                <a:solidFill>
                  <a:srgbClr val="EF6351"/>
                </a:solidFill>
                <a:latin typeface="Calibri"/>
              </a:rPr>
              <a:t>MessageRouter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52928" y="2871216"/>
            <a:ext cx="1188719" cy="3931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262B34"/>
                </a:solidFill>
                <a:latin typeface="Calibri"/>
              </a:rPr>
              <a:t>crea conversación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2377440"/>
            <a:ext cx="15087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663440" y="2377440"/>
            <a:ext cx="73152" cy="960120"/>
          </a:xfrm>
          <a:prstGeom prst="rect">
            <a:avLst/>
          </a:prstGeom>
          <a:solidFill>
            <a:srgbClr val="695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64607" y="2505456"/>
            <a:ext cx="1188719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6952BE"/>
                </a:solidFill>
                <a:latin typeface="Calibri"/>
              </a:rPr>
              <a:t>AgentRunner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4607" y="2871216"/>
            <a:ext cx="1188719" cy="3931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262B34"/>
                </a:solidFill>
                <a:latin typeface="Calibri"/>
              </a:rPr>
              <a:t>run loop del Bot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5120" y="2377440"/>
            <a:ext cx="15087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675120" y="2377440"/>
            <a:ext cx="73152" cy="960120"/>
          </a:xfrm>
          <a:prstGeom prst="rect">
            <a:avLst/>
          </a:prstGeom>
          <a:solidFill>
            <a:srgbClr val="12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76288" y="2505456"/>
            <a:ext cx="1188719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121C36"/>
                </a:solidFill>
                <a:latin typeface="Calibri"/>
              </a:rPr>
              <a:t>Orquestador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76288" y="2871216"/>
            <a:ext cx="1188719" cy="3931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262B34"/>
                </a:solidFill>
                <a:latin typeface="Calibri"/>
              </a:rPr>
              <a:t>ejecuta dominio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0" y="2377440"/>
            <a:ext cx="15087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686800" y="2377440"/>
            <a:ext cx="73152" cy="960120"/>
          </a:xfrm>
          <a:prstGeom prst="rect">
            <a:avLst/>
          </a:prstGeom>
          <a:solidFill>
            <a:srgbClr val="F6C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887968" y="2505456"/>
            <a:ext cx="1188719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F6C344"/>
                </a:solidFill>
                <a:latin typeface="Calibri"/>
              </a:rPr>
              <a:t>Servicios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87968" y="2871216"/>
            <a:ext cx="1188719" cy="393192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/>
            <a:r>
              <a:rPr sz="1050" b="0">
                <a:solidFill>
                  <a:srgbClr val="262B34"/>
                </a:solidFill>
                <a:latin typeface="Calibri"/>
              </a:rPr>
              <a:t>cupo · contexto · etapa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378440" y="2377440"/>
            <a:ext cx="15087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0378440" y="2377440"/>
            <a:ext cx="73152" cy="96012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579608" y="2505456"/>
            <a:ext cx="1188719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00897B"/>
                </a:solidFill>
                <a:latin typeface="Calibri"/>
              </a:rPr>
              <a:t>BD / Operador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79608" y="2871216"/>
            <a:ext cx="1188719" cy="3931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262B34"/>
                </a:solidFill>
                <a:latin typeface="Calibri"/>
              </a:rPr>
              <a:t>estado e historial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148839" y="2852928"/>
            <a:ext cx="502921" cy="0"/>
          </a:xfrm>
          <a:prstGeom prst="line">
            <a:avLst/>
          </a:prstGeom>
          <a:ln w="16510">
            <a:solidFill>
              <a:srgbClr val="616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160520" y="2852928"/>
            <a:ext cx="502920" cy="0"/>
          </a:xfrm>
          <a:prstGeom prst="line">
            <a:avLst/>
          </a:prstGeom>
          <a:ln w="16510">
            <a:solidFill>
              <a:srgbClr val="616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172200" y="2852928"/>
            <a:ext cx="502920" cy="0"/>
          </a:xfrm>
          <a:prstGeom prst="line">
            <a:avLst/>
          </a:prstGeom>
          <a:ln w="16510">
            <a:solidFill>
              <a:srgbClr val="616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183879" y="2852928"/>
            <a:ext cx="502921" cy="0"/>
          </a:xfrm>
          <a:prstGeom prst="line">
            <a:avLst/>
          </a:prstGeom>
          <a:ln w="16510">
            <a:solidFill>
              <a:srgbClr val="616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0195560" y="2852928"/>
            <a:ext cx="182880" cy="0"/>
          </a:xfrm>
          <a:prstGeom prst="line">
            <a:avLst/>
          </a:prstGeom>
          <a:ln w="16510">
            <a:solidFill>
              <a:srgbClr val="616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097280" y="4251960"/>
            <a:ext cx="996696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097280" y="4251960"/>
            <a:ext cx="73152" cy="111556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298448" y="4379976"/>
            <a:ext cx="9646920" cy="292608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 algn="l"/>
            <a:r>
              <a:rPr sz="1500" b="1">
                <a:solidFill>
                  <a:srgbClr val="00897B"/>
                </a:solidFill>
                <a:latin typeface="Calibri"/>
              </a:rPr>
              <a:t>Idea visual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98448" y="4745736"/>
            <a:ext cx="964692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50" b="0">
                <a:solidFill>
                  <a:srgbClr val="262B34"/>
                </a:solidFill>
                <a:latin typeface="Calibri"/>
              </a:rPr>
              <a:t>El Bot interpreta intención; el Orquestador decide y ejecuta operaciones seguras. Así se evita que el Bot tenga acceso directo a credenciales o base de datos.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74F84-B421-5A80-15B6-63CC97A4B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1E246C8-206D-998F-1FF8-45982A5F52F0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4AD957-B5EE-15D8-E736-680AB258B0C1}"/>
              </a:ext>
            </a:extLst>
          </p:cNvPr>
          <p:cNvSpPr txBox="1"/>
          <p:nvPr/>
        </p:nvSpPr>
        <p:spPr>
          <a:xfrm>
            <a:off x="2240280" y="1426464"/>
            <a:ext cx="530352" cy="201168"/>
          </a:xfrm>
          <a:prstGeom prst="rect">
            <a:avLst/>
          </a:prstGeom>
          <a:noFill/>
        </p:spPr>
        <p:txBody>
          <a:bodyPr wrap="square">
            <a:normAutofit fontScale="70000" lnSpcReduction="20000"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6B7979E-480A-6D50-8954-F1273FAE2F5A}"/>
              </a:ext>
            </a:extLst>
          </p:cNvPr>
          <p:cNvSpPr txBox="1"/>
          <p:nvPr/>
        </p:nvSpPr>
        <p:spPr>
          <a:xfrm>
            <a:off x="5989320" y="1426464"/>
            <a:ext cx="530352" cy="201168"/>
          </a:xfrm>
          <a:prstGeom prst="rect">
            <a:avLst/>
          </a:prstGeom>
          <a:noFill/>
        </p:spPr>
        <p:txBody>
          <a:bodyPr wrap="square">
            <a:normAutofit fontScale="70000" lnSpcReduction="20000"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64BFC72-647D-7734-A507-48B2836D300D}"/>
              </a:ext>
            </a:extLst>
          </p:cNvPr>
          <p:cNvSpPr txBox="1"/>
          <p:nvPr/>
        </p:nvSpPr>
        <p:spPr>
          <a:xfrm>
            <a:off x="9738360" y="1426464"/>
            <a:ext cx="530352" cy="201168"/>
          </a:xfrm>
          <a:prstGeom prst="rect">
            <a:avLst/>
          </a:prstGeom>
          <a:noFill/>
        </p:spPr>
        <p:txBody>
          <a:bodyPr wrap="square">
            <a:normAutofit fontScale="70000" lnSpcReduction="20000"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12A3B7D-DCF4-4D05-8B8A-87A57D844E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8363"/>
            <a:ext cx="12192000" cy="6461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7922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9966960" cy="50292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/>
            <a:r>
              <a:rPr sz="3000" b="1">
                <a:solidFill>
                  <a:srgbClr val="121C36"/>
                </a:solidFill>
                <a:latin typeface="Trebuchet MS"/>
              </a:rPr>
              <a:t>FLUJO DE CUPO E INSCRIPCIÓN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89611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616C7D"/>
                </a:solidFill>
                <a:latin typeface="Calibri"/>
              </a:rPr>
              <a:t>La decisión depende de cupo disponible y etapa comercial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35640" y="329184"/>
            <a:ext cx="658368" cy="384048"/>
          </a:xfrm>
          <a:prstGeom prst="roundRect">
            <a:avLst/>
          </a:prstGeom>
          <a:solidFill>
            <a:srgbClr val="12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16459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874519"/>
            <a:ext cx="73152" cy="86868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002536"/>
            <a:ext cx="132588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00897B"/>
                </a:solidFill>
                <a:latin typeface="Calibri"/>
              </a:rPr>
              <a:t>Pregunta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68296"/>
            <a:ext cx="1325880" cy="301751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 algn="l"/>
            <a:r>
              <a:rPr sz="1000" b="0">
                <a:solidFill>
                  <a:srgbClr val="262B34"/>
                </a:solidFill>
                <a:latin typeface="Calibri"/>
              </a:rPr>
              <a:t>evento / costo / horario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0360" y="1874519"/>
            <a:ext cx="16459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880360" y="1874519"/>
            <a:ext cx="73152" cy="868680"/>
          </a:xfrm>
          <a:prstGeom prst="rect">
            <a:avLst/>
          </a:prstGeom>
          <a:solidFill>
            <a:srgbClr val="EF6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81528" y="2002536"/>
            <a:ext cx="132588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EF6351"/>
                </a:solidFill>
                <a:latin typeface="Calibri"/>
              </a:rPr>
              <a:t>Consulta cupo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81528" y="2368296"/>
            <a:ext cx="1325880" cy="30175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262B34"/>
                </a:solidFill>
                <a:latin typeface="Calibri"/>
              </a:rPr>
              <a:t>QuotaService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1874519"/>
            <a:ext cx="16459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29200" y="1874519"/>
            <a:ext cx="73152" cy="868680"/>
          </a:xfrm>
          <a:prstGeom prst="rect">
            <a:avLst/>
          </a:prstGeom>
          <a:solidFill>
            <a:srgbClr val="12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30368" y="2002536"/>
            <a:ext cx="132588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121C36"/>
                </a:solidFill>
                <a:latin typeface="Calibri"/>
              </a:rPr>
              <a:t>¿Hay cupo?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0368" y="2368296"/>
            <a:ext cx="1325880" cy="30175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262B34"/>
                </a:solidFill>
                <a:latin typeface="Calibri"/>
              </a:rPr>
              <a:t>decisión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69480" y="1234440"/>
            <a:ext cx="16459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269480" y="1234440"/>
            <a:ext cx="73152" cy="868680"/>
          </a:xfrm>
          <a:prstGeom prst="rect">
            <a:avLst/>
          </a:prstGeom>
          <a:solidFill>
            <a:srgbClr val="2ECC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70648" y="1362456"/>
            <a:ext cx="132588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2ECCAE"/>
                </a:solidFill>
                <a:latin typeface="Calibri"/>
              </a:rPr>
              <a:t>Sí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70648" y="1728216"/>
            <a:ext cx="1325880" cy="301751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l"/>
            <a:r>
              <a:rPr sz="1000" b="0">
                <a:solidFill>
                  <a:srgbClr val="262B34"/>
                </a:solidFill>
                <a:latin typeface="Calibri"/>
              </a:rPr>
              <a:t>siguiente paso / operador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69480" y="2697480"/>
            <a:ext cx="16459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269480" y="2697480"/>
            <a:ext cx="73152" cy="868680"/>
          </a:xfrm>
          <a:prstGeom prst="rect">
            <a:avLst/>
          </a:prstGeom>
          <a:solidFill>
            <a:srgbClr val="D34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70648" y="2825496"/>
            <a:ext cx="132588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D34057"/>
                </a:solidFill>
                <a:latin typeface="Calibri"/>
              </a:rPr>
              <a:t>No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70648" y="3191256"/>
            <a:ext cx="1325880" cy="301751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l"/>
            <a:r>
              <a:rPr sz="1000" b="0">
                <a:solidFill>
                  <a:srgbClr val="262B34"/>
                </a:solidFill>
                <a:latin typeface="Calibri"/>
              </a:rPr>
              <a:t>lista de espera / alternativas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92640" y="1874519"/>
            <a:ext cx="16459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692640" y="1874519"/>
            <a:ext cx="73152" cy="868680"/>
          </a:xfrm>
          <a:prstGeom prst="rect">
            <a:avLst/>
          </a:prstGeom>
          <a:solidFill>
            <a:srgbClr val="695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893808" y="2002536"/>
            <a:ext cx="132588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6952BE"/>
                </a:solidFill>
                <a:latin typeface="Calibri"/>
              </a:rPr>
              <a:t>Historial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93808" y="2368296"/>
            <a:ext cx="1325880" cy="301751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l"/>
            <a:r>
              <a:rPr sz="1000" b="0">
                <a:solidFill>
                  <a:srgbClr val="262B34"/>
                </a:solidFill>
                <a:latin typeface="Calibri"/>
              </a:rPr>
              <a:t>ConversationSessionStore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377440" y="2304288"/>
            <a:ext cx="502920" cy="0"/>
          </a:xfrm>
          <a:prstGeom prst="line">
            <a:avLst/>
          </a:prstGeom>
          <a:ln w="17780">
            <a:solidFill>
              <a:srgbClr val="616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526280" y="2304288"/>
            <a:ext cx="502920" cy="0"/>
          </a:xfrm>
          <a:prstGeom prst="line">
            <a:avLst/>
          </a:prstGeom>
          <a:ln w="17780">
            <a:solidFill>
              <a:srgbClr val="616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6675120" y="1691640"/>
            <a:ext cx="594360" cy="457200"/>
          </a:xfrm>
          <a:prstGeom prst="line">
            <a:avLst/>
          </a:prstGeom>
          <a:ln w="17780">
            <a:solidFill>
              <a:srgbClr val="616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675120" y="2487168"/>
            <a:ext cx="594360" cy="640080"/>
          </a:xfrm>
          <a:prstGeom prst="line">
            <a:avLst/>
          </a:prstGeom>
          <a:ln w="17780">
            <a:solidFill>
              <a:srgbClr val="616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915400" y="1664208"/>
            <a:ext cx="777240" cy="576072"/>
          </a:xfrm>
          <a:prstGeom prst="line">
            <a:avLst/>
          </a:prstGeom>
          <a:ln w="17780">
            <a:solidFill>
              <a:srgbClr val="616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8915400" y="2423160"/>
            <a:ext cx="777240" cy="704088"/>
          </a:xfrm>
          <a:prstGeom prst="line">
            <a:avLst/>
          </a:prstGeom>
          <a:ln w="17780">
            <a:solidFill>
              <a:srgbClr val="616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1234440" y="4617720"/>
            <a:ext cx="964692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234440" y="4617720"/>
            <a:ext cx="73152" cy="1115568"/>
          </a:xfrm>
          <a:prstGeom prst="rect">
            <a:avLst/>
          </a:prstGeom>
          <a:solidFill>
            <a:srgbClr val="F6C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435608" y="4745736"/>
            <a:ext cx="9326880" cy="292608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/>
            <a:r>
              <a:rPr sz="1400" b="1">
                <a:solidFill>
                  <a:srgbClr val="F6C344"/>
                </a:solidFill>
                <a:latin typeface="Calibri"/>
              </a:rPr>
              <a:t>Regla clave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35608" y="5111496"/>
            <a:ext cx="932688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262B34"/>
                </a:solidFill>
                <a:latin typeface="Calibri"/>
              </a:rPr>
              <a:t>La lista de espera se ofrece cuando la persona interesada está en etapa comercial Prospecto.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BF28C-75F7-8B78-1058-32A509EA0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40D306D-061F-D95B-6568-244A90FD9C85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18E268-D248-25CE-E48A-A5F5D1D9A07B}"/>
              </a:ext>
            </a:extLst>
          </p:cNvPr>
          <p:cNvSpPr txBox="1"/>
          <p:nvPr/>
        </p:nvSpPr>
        <p:spPr>
          <a:xfrm>
            <a:off x="2240280" y="1426464"/>
            <a:ext cx="530352" cy="201168"/>
          </a:xfrm>
          <a:prstGeom prst="rect">
            <a:avLst/>
          </a:prstGeom>
          <a:noFill/>
        </p:spPr>
        <p:txBody>
          <a:bodyPr wrap="square">
            <a:normAutofit fontScale="70000" lnSpcReduction="20000"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B5FBB0-D61B-53B5-3F3A-8DC8339325D4}"/>
              </a:ext>
            </a:extLst>
          </p:cNvPr>
          <p:cNvSpPr txBox="1"/>
          <p:nvPr/>
        </p:nvSpPr>
        <p:spPr>
          <a:xfrm>
            <a:off x="5989320" y="1426464"/>
            <a:ext cx="530352" cy="201168"/>
          </a:xfrm>
          <a:prstGeom prst="rect">
            <a:avLst/>
          </a:prstGeom>
          <a:noFill/>
        </p:spPr>
        <p:txBody>
          <a:bodyPr wrap="square">
            <a:normAutofit fontScale="70000" lnSpcReduction="20000"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D6F901E-A214-FAA9-8BC0-F6BD34173D1C}"/>
              </a:ext>
            </a:extLst>
          </p:cNvPr>
          <p:cNvSpPr txBox="1"/>
          <p:nvPr/>
        </p:nvSpPr>
        <p:spPr>
          <a:xfrm>
            <a:off x="9738360" y="1426464"/>
            <a:ext cx="530352" cy="201168"/>
          </a:xfrm>
          <a:prstGeom prst="rect">
            <a:avLst/>
          </a:prstGeom>
          <a:noFill/>
        </p:spPr>
        <p:txBody>
          <a:bodyPr wrap="square">
            <a:normAutofit fontScale="70000" lnSpcReduction="20000"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3F2C47F-BD1C-5AC2-1DD0-8E186A52B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606" y="0"/>
            <a:ext cx="116647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3428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9966960" cy="50292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/>
            <a:r>
              <a:rPr sz="3000" b="1">
                <a:solidFill>
                  <a:srgbClr val="121C36"/>
                </a:solidFill>
                <a:latin typeface="Trebuchet MS"/>
              </a:rPr>
              <a:t>ETAPA COMERCIAL: PROSPECTO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89611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616C7D"/>
                </a:solidFill>
                <a:latin typeface="Calibri"/>
              </a:rPr>
              <a:t>Definición usada para decidir acciones comerciales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35640" y="329184"/>
            <a:ext cx="658368" cy="384048"/>
          </a:xfrm>
          <a:prstGeom prst="roundRect">
            <a:avLst/>
          </a:prstGeom>
          <a:solidFill>
            <a:srgbClr val="12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08760"/>
            <a:ext cx="49377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1508760"/>
            <a:ext cx="73152" cy="123444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1636776"/>
            <a:ext cx="4617720" cy="292608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l"/>
            <a:r>
              <a:rPr sz="1600" b="1">
                <a:solidFill>
                  <a:srgbClr val="00897B"/>
                </a:solidFill>
                <a:latin typeface="Calibri"/>
              </a:rPr>
              <a:t>¿Quién es prospecto?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002536"/>
            <a:ext cx="4617720" cy="6675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>
                <a:solidFill>
                  <a:srgbClr val="262B34"/>
                </a:solidFill>
                <a:latin typeface="Calibri"/>
              </a:rPr>
              <a:t>Persona que ya solicitó información sobre métodos de pago y está en camino a cerrar la venta.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154680"/>
            <a:ext cx="49377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" y="3154680"/>
            <a:ext cx="73152" cy="1234440"/>
          </a:xfrm>
          <a:prstGeom prst="rect">
            <a:avLst/>
          </a:prstGeom>
          <a:solidFill>
            <a:srgbClr val="EF6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4128" y="3282696"/>
            <a:ext cx="4617720" cy="292608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l"/>
            <a:r>
              <a:rPr sz="1600" b="1">
                <a:solidFill>
                  <a:srgbClr val="EF6351"/>
                </a:solidFill>
                <a:latin typeface="Calibri"/>
              </a:rPr>
              <a:t>Qué se comparte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3648456"/>
            <a:ext cx="4617720" cy="6675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>
                <a:solidFill>
                  <a:srgbClr val="262B34"/>
                </a:solidFill>
                <a:latin typeface="Calibri"/>
              </a:rPr>
              <a:t>Formato de pago, número de cuenta bancaria e instrucciones para confirmar el pago.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508760"/>
            <a:ext cx="4937760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09360" y="1508760"/>
            <a:ext cx="73152" cy="2880360"/>
          </a:xfrm>
          <a:prstGeom prst="rect">
            <a:avLst/>
          </a:prstGeom>
          <a:solidFill>
            <a:srgbClr val="12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10528" y="1636776"/>
            <a:ext cx="4617720" cy="292608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l"/>
            <a:r>
              <a:rPr sz="1600" b="1">
                <a:solidFill>
                  <a:srgbClr val="121C36"/>
                </a:solidFill>
                <a:latin typeface="Calibri"/>
              </a:rPr>
              <a:t>Por qué importa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8" y="2002536"/>
            <a:ext cx="4617720" cy="23134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0">
                <a:solidFill>
                  <a:srgbClr val="262B34"/>
                </a:solidFill>
                <a:latin typeface="Calibri"/>
              </a:rPr>
              <a:t>Permite validar si corresponde ofrecer lista de espera, seguimiento o transferencia a operador.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11680" y="5230368"/>
            <a:ext cx="8138160" cy="530352"/>
          </a:xfrm>
          <a:prstGeom prst="roundRect">
            <a:avLst/>
          </a:prstGeom>
          <a:solidFill>
            <a:srgbClr val="695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Etapa ≠ score: la etapa representa avance comercial; el score ordena prioridades.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3287B-3302-F3D8-E05E-B285CA544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536E9A6-00CF-0BC1-3EC0-88BAEA342EB1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BF44E1-7413-76D6-27DA-3B6A81CB87A0}"/>
              </a:ext>
            </a:extLst>
          </p:cNvPr>
          <p:cNvSpPr txBox="1"/>
          <p:nvPr/>
        </p:nvSpPr>
        <p:spPr>
          <a:xfrm>
            <a:off x="2240280" y="1426464"/>
            <a:ext cx="530352" cy="201168"/>
          </a:xfrm>
          <a:prstGeom prst="rect">
            <a:avLst/>
          </a:prstGeom>
          <a:noFill/>
        </p:spPr>
        <p:txBody>
          <a:bodyPr wrap="square">
            <a:normAutofit fontScale="70000" lnSpcReduction="20000"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62789D-270A-48A6-CCB0-C1768861CD86}"/>
              </a:ext>
            </a:extLst>
          </p:cNvPr>
          <p:cNvSpPr txBox="1"/>
          <p:nvPr/>
        </p:nvSpPr>
        <p:spPr>
          <a:xfrm>
            <a:off x="5989320" y="1426464"/>
            <a:ext cx="530352" cy="201168"/>
          </a:xfrm>
          <a:prstGeom prst="rect">
            <a:avLst/>
          </a:prstGeom>
          <a:noFill/>
        </p:spPr>
        <p:txBody>
          <a:bodyPr wrap="square">
            <a:normAutofit fontScale="70000" lnSpcReduction="20000"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CB6509B-B748-BF92-D080-F7E25ACB2106}"/>
              </a:ext>
            </a:extLst>
          </p:cNvPr>
          <p:cNvSpPr txBox="1"/>
          <p:nvPr/>
        </p:nvSpPr>
        <p:spPr>
          <a:xfrm>
            <a:off x="9738360" y="1426464"/>
            <a:ext cx="530352" cy="201168"/>
          </a:xfrm>
          <a:prstGeom prst="rect">
            <a:avLst/>
          </a:prstGeom>
          <a:noFill/>
        </p:spPr>
        <p:txBody>
          <a:bodyPr wrap="square">
            <a:normAutofit fontScale="70000" lnSpcReduction="20000"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EF20545-9342-493C-0C21-80CCB34EA8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992"/>
            <a:ext cx="12192000" cy="6762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9330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9966960" cy="50292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/>
            <a:r>
              <a:rPr sz="3000" b="1">
                <a:solidFill>
                  <a:srgbClr val="121C36"/>
                </a:solidFill>
                <a:latin typeface="Trebuchet MS"/>
              </a:rPr>
              <a:t>ESCALABILIDAD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89611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616C7D"/>
                </a:solidFill>
                <a:latin typeface="Calibri"/>
              </a:rPr>
              <a:t>Crecimiento por módulos sin rehacer el núcleo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35640" y="329184"/>
            <a:ext cx="658368" cy="384048"/>
          </a:xfrm>
          <a:prstGeom prst="roundRect">
            <a:avLst/>
          </a:prstGeom>
          <a:solidFill>
            <a:srgbClr val="12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33375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234440"/>
            <a:ext cx="73152" cy="109728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8408" y="1362456"/>
            <a:ext cx="3017520" cy="292608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 algn="l"/>
            <a:r>
              <a:rPr sz="1500" b="1">
                <a:solidFill>
                  <a:srgbClr val="00897B"/>
                </a:solidFill>
                <a:latin typeface="Calibri"/>
              </a:rPr>
              <a:t>Mínimo inicial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1728216"/>
            <a:ext cx="3017520" cy="5303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50" b="0">
                <a:solidFill>
                  <a:srgbClr val="262B34"/>
                </a:solidFill>
                <a:latin typeface="Calibri"/>
              </a:rPr>
              <a:t>WhatsApp + respuestas frecuentes + verificación de cupo.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234440"/>
            <a:ext cx="33375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1234440"/>
            <a:ext cx="73152" cy="1097280"/>
          </a:xfrm>
          <a:prstGeom prst="rect">
            <a:avLst/>
          </a:prstGeom>
          <a:solidFill>
            <a:srgbClr val="EF6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36007" y="1362456"/>
            <a:ext cx="3017520" cy="292608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 algn="l"/>
            <a:r>
              <a:rPr sz="1500" b="1">
                <a:solidFill>
                  <a:srgbClr val="EF6351"/>
                </a:solidFill>
                <a:latin typeface="Calibri"/>
              </a:rPr>
              <a:t>Piezas intercambiables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1728216"/>
            <a:ext cx="3017520" cy="5303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50" b="0">
                <a:solidFill>
                  <a:srgbClr val="262B34"/>
                </a:solidFill>
                <a:latin typeface="Calibri"/>
              </a:rPr>
              <a:t>Canal de entrada/salida separado de la lógica de negocio.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234440"/>
            <a:ext cx="33375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2440" y="1234440"/>
            <a:ext cx="73152" cy="1097280"/>
          </a:xfrm>
          <a:prstGeom prst="rect">
            <a:avLst/>
          </a:prstGeom>
          <a:solidFill>
            <a:srgbClr val="12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93608" y="1362456"/>
            <a:ext cx="3017520" cy="292608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 algn="l"/>
            <a:r>
              <a:rPr sz="1500" b="1">
                <a:solidFill>
                  <a:srgbClr val="121C36"/>
                </a:solidFill>
                <a:latin typeface="Calibri"/>
              </a:rPr>
              <a:t>Nuevos canales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1728216"/>
            <a:ext cx="3017520" cy="5303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50" b="0">
                <a:solidFill>
                  <a:srgbClr val="262B34"/>
                </a:solidFill>
                <a:latin typeface="Calibri"/>
              </a:rPr>
              <a:t>Telegram, chat web o redes se integran como adaptadores.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1560" y="3200400"/>
            <a:ext cx="47548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51560" y="3200400"/>
            <a:ext cx="73152" cy="1280160"/>
          </a:xfrm>
          <a:prstGeom prst="rect">
            <a:avLst/>
          </a:prstGeom>
          <a:solidFill>
            <a:srgbClr val="695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52728" y="3328416"/>
            <a:ext cx="4434840" cy="292608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 algn="l"/>
            <a:r>
              <a:rPr sz="1500" b="1">
                <a:solidFill>
                  <a:srgbClr val="6952BE"/>
                </a:solidFill>
                <a:latin typeface="Calibri"/>
              </a:rPr>
              <a:t>Nuevas funciones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52728" y="3694176"/>
            <a:ext cx="4434840" cy="71323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50" b="0">
                <a:solidFill>
                  <a:srgbClr val="262B34"/>
                </a:solidFill>
                <a:latin typeface="Calibri"/>
              </a:rPr>
              <a:t>Reservas, notificaciones, confirmación de pago y handoff humano se agregan detrás del orquestador.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3200400"/>
            <a:ext cx="47548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55080" y="3200400"/>
            <a:ext cx="73152" cy="1280160"/>
          </a:xfrm>
          <a:prstGeom prst="rect">
            <a:avLst/>
          </a:prstGeom>
          <a:solidFill>
            <a:srgbClr val="F6C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56248" y="3328416"/>
            <a:ext cx="4434840" cy="292608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 algn="l"/>
            <a:r>
              <a:rPr sz="1500" b="1">
                <a:solidFill>
                  <a:srgbClr val="F6C344"/>
                </a:solidFill>
                <a:latin typeface="Calibri"/>
              </a:rPr>
              <a:t>Resultado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6248" y="3694176"/>
            <a:ext cx="4434840" cy="71323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50" b="0">
                <a:solidFill>
                  <a:srgbClr val="262B34"/>
                </a:solidFill>
                <a:latin typeface="Calibri"/>
              </a:rPr>
              <a:t>El sistema crece ordenadamente por módulos, con menor riesgo de romper lo existente.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7EFAC-5554-C47C-129D-97C00BBD4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0A77F64-5831-EA15-934E-73D6C191E81A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B1422C-E369-99FD-921A-21F963235058}"/>
              </a:ext>
            </a:extLst>
          </p:cNvPr>
          <p:cNvSpPr txBox="1"/>
          <p:nvPr/>
        </p:nvSpPr>
        <p:spPr>
          <a:xfrm>
            <a:off x="2240280" y="1426464"/>
            <a:ext cx="530352" cy="201168"/>
          </a:xfrm>
          <a:prstGeom prst="rect">
            <a:avLst/>
          </a:prstGeom>
          <a:noFill/>
        </p:spPr>
        <p:txBody>
          <a:bodyPr wrap="square">
            <a:normAutofit fontScale="70000" lnSpcReduction="20000"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FD4F8C-61AA-54BD-C18C-914E1B4F0A37}"/>
              </a:ext>
            </a:extLst>
          </p:cNvPr>
          <p:cNvSpPr txBox="1"/>
          <p:nvPr/>
        </p:nvSpPr>
        <p:spPr>
          <a:xfrm>
            <a:off x="5989320" y="1426464"/>
            <a:ext cx="530352" cy="201168"/>
          </a:xfrm>
          <a:prstGeom prst="rect">
            <a:avLst/>
          </a:prstGeom>
          <a:noFill/>
        </p:spPr>
        <p:txBody>
          <a:bodyPr wrap="square">
            <a:normAutofit fontScale="70000" lnSpcReduction="20000"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21A8D76-28F3-33F9-1C85-4A21D2E2962F}"/>
              </a:ext>
            </a:extLst>
          </p:cNvPr>
          <p:cNvSpPr txBox="1"/>
          <p:nvPr/>
        </p:nvSpPr>
        <p:spPr>
          <a:xfrm>
            <a:off x="9738360" y="1426464"/>
            <a:ext cx="530352" cy="201168"/>
          </a:xfrm>
          <a:prstGeom prst="rect">
            <a:avLst/>
          </a:prstGeom>
          <a:noFill/>
        </p:spPr>
        <p:txBody>
          <a:bodyPr wrap="square">
            <a:normAutofit fontScale="70000" lnSpcReduction="20000"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794AEAD1-F42E-2253-352C-FF50D227B5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1321095"/>
            <a:ext cx="12192000" cy="4215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9871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9966960" cy="50292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/>
            <a:r>
              <a:rPr sz="3000" b="1">
                <a:solidFill>
                  <a:srgbClr val="121C36"/>
                </a:solidFill>
                <a:latin typeface="Trebuchet MS"/>
              </a:rPr>
              <a:t>ARQUITECTURA POR ADAPTADORES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89611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616C7D"/>
                </a:solidFill>
                <a:latin typeface="Calibri"/>
              </a:rPr>
              <a:t>El canal cambia; el contrato interno se mantiene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35640" y="329184"/>
            <a:ext cx="658368" cy="384048"/>
          </a:xfrm>
          <a:prstGeom prst="roundRect">
            <a:avLst/>
          </a:prstGeom>
          <a:solidFill>
            <a:srgbClr val="12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25880"/>
            <a:ext cx="219456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1325880"/>
            <a:ext cx="73152" cy="82296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1453895"/>
            <a:ext cx="1874519" cy="292608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/>
            <a:r>
              <a:rPr sz="1400" b="1">
                <a:solidFill>
                  <a:srgbClr val="00897B"/>
                </a:solidFill>
                <a:latin typeface="Calibri"/>
              </a:rPr>
              <a:t>WhatsApp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1819656"/>
            <a:ext cx="187451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262B34"/>
                </a:solidFill>
                <a:latin typeface="Calibri"/>
              </a:rPr>
              <a:t>adaptador de canal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560320"/>
            <a:ext cx="219456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" y="2560320"/>
            <a:ext cx="73152" cy="822960"/>
          </a:xfrm>
          <a:prstGeom prst="rect">
            <a:avLst/>
          </a:prstGeom>
          <a:solidFill>
            <a:srgbClr val="EF6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4128" y="2688336"/>
            <a:ext cx="1874519" cy="292608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/>
            <a:r>
              <a:rPr sz="1400" b="1">
                <a:solidFill>
                  <a:srgbClr val="EF6351"/>
                </a:solidFill>
                <a:latin typeface="Calibri"/>
              </a:rPr>
              <a:t>Telegram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3054096"/>
            <a:ext cx="187451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262B34"/>
                </a:solidFill>
                <a:latin typeface="Calibri"/>
              </a:rPr>
              <a:t>adaptador de canal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794760"/>
            <a:ext cx="219456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" y="3794760"/>
            <a:ext cx="73152" cy="822960"/>
          </a:xfrm>
          <a:prstGeom prst="rect">
            <a:avLst/>
          </a:prstGeom>
          <a:solidFill>
            <a:srgbClr val="695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24128" y="3922776"/>
            <a:ext cx="1874519" cy="292608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/>
            <a:r>
              <a:rPr sz="1400" b="1">
                <a:solidFill>
                  <a:srgbClr val="6952BE"/>
                </a:solidFill>
                <a:latin typeface="Calibri"/>
              </a:rPr>
              <a:t>Chat web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4288536"/>
            <a:ext cx="187451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262B34"/>
                </a:solidFill>
                <a:latin typeface="Calibri"/>
              </a:rPr>
              <a:t>adaptador de canal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017520" y="2743200"/>
            <a:ext cx="960119" cy="0"/>
          </a:xfrm>
          <a:prstGeom prst="line">
            <a:avLst/>
          </a:prstGeom>
          <a:ln w="19050">
            <a:solidFill>
              <a:srgbClr val="616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977639" y="1965960"/>
            <a:ext cx="27432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977639" y="1965960"/>
            <a:ext cx="73152" cy="1554480"/>
          </a:xfrm>
          <a:prstGeom prst="rect">
            <a:avLst/>
          </a:prstGeom>
          <a:solidFill>
            <a:srgbClr val="12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78807" y="2093976"/>
            <a:ext cx="2423160" cy="292608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 algn="l"/>
            <a:r>
              <a:rPr sz="1500" b="1">
                <a:solidFill>
                  <a:srgbClr val="121C36"/>
                </a:solidFill>
                <a:latin typeface="Calibri"/>
              </a:rPr>
              <a:t>Contrato estable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78807" y="2459736"/>
            <a:ext cx="2423160" cy="9875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262B34"/>
                </a:solidFill>
                <a:latin typeface="Calibri"/>
              </a:rPr>
              <a:t>Tool calls versionables
validación por etapa
errores tipados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720840" y="2743200"/>
            <a:ext cx="777239" cy="0"/>
          </a:xfrm>
          <a:prstGeom prst="line">
            <a:avLst/>
          </a:prstGeom>
          <a:ln w="19050">
            <a:solidFill>
              <a:srgbClr val="616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498079" y="1325880"/>
            <a:ext cx="27432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498079" y="1325880"/>
            <a:ext cx="73152" cy="82296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699248" y="1453895"/>
            <a:ext cx="2423160" cy="292608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/>
            <a:r>
              <a:rPr sz="1400" b="1">
                <a:solidFill>
                  <a:srgbClr val="00897B"/>
                </a:solidFill>
                <a:latin typeface="Calibri"/>
              </a:rPr>
              <a:t>Eventos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99248" y="1819656"/>
            <a:ext cx="242316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262B34"/>
                </a:solidFill>
                <a:latin typeface="Calibri"/>
              </a:rPr>
              <a:t>servicio de dominio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79" y="2560320"/>
            <a:ext cx="27432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498079" y="2560320"/>
            <a:ext cx="73152" cy="822960"/>
          </a:xfrm>
          <a:prstGeom prst="rect">
            <a:avLst/>
          </a:prstGeom>
          <a:solidFill>
            <a:srgbClr val="EF6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699248" y="2688336"/>
            <a:ext cx="2423160" cy="292608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/>
            <a:r>
              <a:rPr sz="1400" b="1">
                <a:solidFill>
                  <a:srgbClr val="EF6351"/>
                </a:solidFill>
                <a:latin typeface="Calibri"/>
              </a:rPr>
              <a:t>Cupo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99248" y="3054096"/>
            <a:ext cx="242316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262B34"/>
                </a:solidFill>
                <a:latin typeface="Calibri"/>
              </a:rPr>
              <a:t>servicio de dominio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79" y="3794760"/>
            <a:ext cx="27432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498079" y="3794760"/>
            <a:ext cx="73152" cy="822960"/>
          </a:xfrm>
          <a:prstGeom prst="rect">
            <a:avLst/>
          </a:prstGeom>
          <a:solidFill>
            <a:srgbClr val="695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699248" y="3922776"/>
            <a:ext cx="2423160" cy="292608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/>
            <a:r>
              <a:rPr sz="1400" b="1">
                <a:solidFill>
                  <a:srgbClr val="6952BE"/>
                </a:solidFill>
                <a:latin typeface="Calibri"/>
              </a:rPr>
              <a:t>Lista de espera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99248" y="4288536"/>
            <a:ext cx="242316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262B34"/>
                </a:solidFill>
                <a:latin typeface="Calibri"/>
              </a:rPr>
              <a:t>servicio de dominio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9966960" cy="50292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/>
            <a:r>
              <a:rPr sz="3000" b="1">
                <a:solidFill>
                  <a:srgbClr val="121C36"/>
                </a:solidFill>
                <a:latin typeface="Trebuchet MS"/>
              </a:rPr>
              <a:t>ROADMAP DE CAPACIDADES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89611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616C7D"/>
                </a:solidFill>
                <a:latin typeface="Calibri"/>
              </a:rPr>
              <a:t>Funciones que pueden sumarse sin cambiar la base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35640" y="329184"/>
            <a:ext cx="658368" cy="384048"/>
          </a:xfrm>
          <a:prstGeom prst="roundRect">
            <a:avLst/>
          </a:prstGeom>
          <a:solidFill>
            <a:srgbClr val="12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6" name="Oval 5"/>
          <p:cNvSpPr/>
          <p:nvPr/>
        </p:nvSpPr>
        <p:spPr>
          <a:xfrm>
            <a:off x="1325880" y="1417320"/>
            <a:ext cx="530352" cy="530352"/>
          </a:xfrm>
          <a:prstGeom prst="ellips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25880" y="1517904"/>
            <a:ext cx="530352" cy="201168"/>
          </a:xfrm>
          <a:prstGeom prst="rect">
            <a:avLst/>
          </a:prstGeom>
          <a:noFill/>
        </p:spPr>
        <p:txBody>
          <a:bodyPr wrap="square">
            <a:normAutofit fontScale="70000" lnSpcReduction="20000"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48840"/>
            <a:ext cx="19202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2148840"/>
            <a:ext cx="73152" cy="141732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2276856"/>
            <a:ext cx="16002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00897B"/>
                </a:solidFill>
                <a:latin typeface="Calibri"/>
              </a:rPr>
              <a:t>Reservas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642616"/>
            <a:ext cx="1600200" cy="8503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262B34"/>
                </a:solidFill>
                <a:latin typeface="Calibri"/>
              </a:rPr>
              <a:t>bloqueo y liberación de cupo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06040" y="2834640"/>
            <a:ext cx="365760" cy="0"/>
          </a:xfrm>
          <a:prstGeom prst="line">
            <a:avLst/>
          </a:prstGeom>
          <a:ln w="15240">
            <a:solidFill>
              <a:srgbClr val="616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611880" y="1417320"/>
            <a:ext cx="530352" cy="530352"/>
          </a:xfrm>
          <a:prstGeom prst="ellipse">
            <a:avLst/>
          </a:prstGeom>
          <a:solidFill>
            <a:srgbClr val="EF6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11880" y="1517904"/>
            <a:ext cx="530352" cy="201168"/>
          </a:xfrm>
          <a:prstGeom prst="rect">
            <a:avLst/>
          </a:prstGeom>
          <a:noFill/>
        </p:spPr>
        <p:txBody>
          <a:bodyPr wrap="square">
            <a:normAutofit fontScale="70000" lnSpcReduction="20000"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71800" y="2148840"/>
            <a:ext cx="19202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971800" y="2148840"/>
            <a:ext cx="73152" cy="1417320"/>
          </a:xfrm>
          <a:prstGeom prst="rect">
            <a:avLst/>
          </a:prstGeom>
          <a:solidFill>
            <a:srgbClr val="EF6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172968" y="2276856"/>
            <a:ext cx="16002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EF6351"/>
                </a:solidFill>
                <a:latin typeface="Calibri"/>
              </a:rPr>
              <a:t>Lista de espera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72968" y="2642616"/>
            <a:ext cx="1600200" cy="8503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262B34"/>
                </a:solidFill>
                <a:latin typeface="Calibri"/>
              </a:rPr>
              <a:t>score + FIFO desempate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92040" y="2834640"/>
            <a:ext cx="365760" cy="0"/>
          </a:xfrm>
          <a:prstGeom prst="line">
            <a:avLst/>
          </a:prstGeom>
          <a:ln w="15240">
            <a:solidFill>
              <a:srgbClr val="616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5897880" y="1417320"/>
            <a:ext cx="530352" cy="530352"/>
          </a:xfrm>
          <a:prstGeom prst="ellipse">
            <a:avLst/>
          </a:prstGeom>
          <a:solidFill>
            <a:srgbClr val="695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897880" y="1517904"/>
            <a:ext cx="530352" cy="201168"/>
          </a:xfrm>
          <a:prstGeom prst="rect">
            <a:avLst/>
          </a:prstGeom>
          <a:noFill/>
        </p:spPr>
        <p:txBody>
          <a:bodyPr wrap="square">
            <a:normAutofit fontScale="70000" lnSpcReduction="20000"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57800" y="2148840"/>
            <a:ext cx="19202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257800" y="2148840"/>
            <a:ext cx="73152" cy="1417320"/>
          </a:xfrm>
          <a:prstGeom prst="rect">
            <a:avLst/>
          </a:prstGeom>
          <a:solidFill>
            <a:srgbClr val="695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58968" y="2276856"/>
            <a:ext cx="16002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6952BE"/>
                </a:solidFill>
                <a:latin typeface="Calibri"/>
              </a:rPr>
              <a:t>Notificaciones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58968" y="2642616"/>
            <a:ext cx="1600200" cy="8503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262B34"/>
                </a:solidFill>
                <a:latin typeface="Calibri"/>
              </a:rPr>
              <a:t>recordatorios y confirmaciones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178040" y="2834640"/>
            <a:ext cx="365760" cy="0"/>
          </a:xfrm>
          <a:prstGeom prst="line">
            <a:avLst/>
          </a:prstGeom>
          <a:ln w="15240">
            <a:solidFill>
              <a:srgbClr val="616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8183879" y="1417320"/>
            <a:ext cx="530352" cy="530352"/>
          </a:xfrm>
          <a:prstGeom prst="ellipse">
            <a:avLst/>
          </a:prstGeom>
          <a:solidFill>
            <a:srgbClr val="F6C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83879" y="1517904"/>
            <a:ext cx="530352" cy="201168"/>
          </a:xfrm>
          <a:prstGeom prst="rect">
            <a:avLst/>
          </a:prstGeom>
          <a:noFill/>
        </p:spPr>
        <p:txBody>
          <a:bodyPr wrap="square">
            <a:normAutofit fontScale="70000" lnSpcReduction="20000"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43800" y="2148840"/>
            <a:ext cx="19202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543800" y="2148840"/>
            <a:ext cx="73152" cy="1417320"/>
          </a:xfrm>
          <a:prstGeom prst="rect">
            <a:avLst/>
          </a:prstGeom>
          <a:solidFill>
            <a:srgbClr val="F6C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744968" y="2276856"/>
            <a:ext cx="16002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F6C344"/>
                </a:solidFill>
                <a:latin typeface="Calibri"/>
              </a:rPr>
              <a:t>Pagos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44968" y="2642616"/>
            <a:ext cx="1600200" cy="8503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262B34"/>
                </a:solidFill>
                <a:latin typeface="Calibri"/>
              </a:rPr>
              <a:t>instrucciones y validación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464040" y="2834640"/>
            <a:ext cx="365760" cy="0"/>
          </a:xfrm>
          <a:prstGeom prst="line">
            <a:avLst/>
          </a:prstGeom>
          <a:ln w="15240">
            <a:solidFill>
              <a:srgbClr val="616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10469880" y="1417320"/>
            <a:ext cx="530352" cy="530352"/>
          </a:xfrm>
          <a:prstGeom prst="ellipse">
            <a:avLst/>
          </a:prstGeom>
          <a:solidFill>
            <a:srgbClr val="12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469880" y="1517904"/>
            <a:ext cx="530352" cy="201168"/>
          </a:xfrm>
          <a:prstGeom prst="rect">
            <a:avLst/>
          </a:prstGeom>
          <a:noFill/>
        </p:spPr>
        <p:txBody>
          <a:bodyPr wrap="square">
            <a:normAutofit fontScale="70000" lnSpcReduction="20000"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829800" y="2148840"/>
            <a:ext cx="19202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829800" y="2148840"/>
            <a:ext cx="73152" cy="1417320"/>
          </a:xfrm>
          <a:prstGeom prst="rect">
            <a:avLst/>
          </a:prstGeom>
          <a:solidFill>
            <a:srgbClr val="12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030968" y="2276856"/>
            <a:ext cx="16002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121C36"/>
                </a:solidFill>
                <a:latin typeface="Calibri"/>
              </a:rPr>
              <a:t>Handoff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30968" y="2642616"/>
            <a:ext cx="1600200" cy="8503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262B34"/>
                </a:solidFill>
                <a:latin typeface="Calibri"/>
              </a:rPr>
              <a:t>operador humano con contexto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97280" y="4617720"/>
            <a:ext cx="987552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097280" y="4617720"/>
            <a:ext cx="73152" cy="987552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298448" y="4745736"/>
            <a:ext cx="9555480" cy="292608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 algn="l"/>
            <a:r>
              <a:rPr sz="1500" b="1">
                <a:solidFill>
                  <a:srgbClr val="00897B"/>
                </a:solidFill>
                <a:latin typeface="Calibri"/>
              </a:rPr>
              <a:t>Principio de crecimiento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98448" y="5111496"/>
            <a:ext cx="9555480" cy="4206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262B34"/>
                </a:solidFill>
                <a:latin typeface="Calibri"/>
              </a:rPr>
              <a:t>El MVP no se reescribe: se extiende con servicios detrás del contrato de tool calls.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9966960" cy="50292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/>
            <a:r>
              <a:rPr sz="3000" b="1">
                <a:solidFill>
                  <a:srgbClr val="121C36"/>
                </a:solidFill>
                <a:latin typeface="Trebuchet MS"/>
              </a:rPr>
              <a:t>ATRIBUTOS DE CALIDAD (RNF)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89611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616C7D"/>
                </a:solidFill>
                <a:latin typeface="Calibri"/>
              </a:rPr>
              <a:t>Métricas verificables para rendimiento, carga y continuidad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35640" y="329184"/>
            <a:ext cx="658368" cy="384048"/>
          </a:xfrm>
          <a:prstGeom prst="roundRect">
            <a:avLst/>
          </a:prstGeom>
          <a:solidFill>
            <a:srgbClr val="12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2148840" cy="1225296"/>
          </a:xfrm>
          <a:prstGeom prst="round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435608"/>
            <a:ext cx="1993392" cy="438912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ctr"/>
            <a:r>
              <a:rPr sz="2900" b="1">
                <a:solidFill>
                  <a:srgbClr val="FFFFFF"/>
                </a:solidFill>
                <a:latin typeface="Calibri"/>
              </a:rPr>
              <a:t>P90 &lt;2s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984248"/>
            <a:ext cx="192024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mayoría de respuestas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0" y="1234440"/>
            <a:ext cx="2148840" cy="1225296"/>
          </a:xfrm>
          <a:prstGeom prst="roundRect">
            <a:avLst/>
          </a:prstGeom>
          <a:solidFill>
            <a:srgbClr val="EF6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82112" y="1435608"/>
            <a:ext cx="1993392" cy="438912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ctr"/>
            <a:r>
              <a:rPr sz="2900" b="1">
                <a:solidFill>
                  <a:srgbClr val="FFFFFF"/>
                </a:solidFill>
                <a:latin typeface="Calibri"/>
              </a:rPr>
              <a:t>P99 &lt;5s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18688" y="1984248"/>
            <a:ext cx="192024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casi siempre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1234440"/>
            <a:ext cx="2148840" cy="1225296"/>
          </a:xfrm>
          <a:prstGeom prst="roundRect">
            <a:avLst/>
          </a:prstGeom>
          <a:solidFill>
            <a:srgbClr val="12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559552" y="1435608"/>
            <a:ext cx="1993392" cy="438912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ctr"/>
            <a:r>
              <a:rPr sz="2900" b="1">
                <a:solidFill>
                  <a:srgbClr val="FFFFFF"/>
                </a:solidFill>
                <a:latin typeface="Calibri"/>
              </a:rPr>
              <a:t>≤10s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96128" y="1984248"/>
            <a:ext cx="192024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peor caso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1234440"/>
            <a:ext cx="2148840" cy="1225296"/>
          </a:xfrm>
          <a:prstGeom prst="roundRect">
            <a:avLst/>
          </a:prstGeom>
          <a:solidFill>
            <a:srgbClr val="695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36992" y="1435608"/>
            <a:ext cx="1993392" cy="438912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ctr"/>
            <a:r>
              <a:rPr sz="2900" b="1">
                <a:solidFill>
                  <a:srgbClr val="FFFFFF"/>
                </a:solidFill>
                <a:latin typeface="Calibri"/>
              </a:rPr>
              <a:t>600/min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7" y="1984248"/>
            <a:ext cx="192024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mensajes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063240"/>
            <a:ext cx="33375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60" y="3063240"/>
            <a:ext cx="73152" cy="1143000"/>
          </a:xfrm>
          <a:prstGeom prst="rect">
            <a:avLst/>
          </a:prstGeom>
          <a:solidFill>
            <a:srgbClr val="F6C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24128" y="3191256"/>
            <a:ext cx="3017520" cy="292608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 algn="l"/>
            <a:r>
              <a:rPr sz="1500" b="1">
                <a:solidFill>
                  <a:srgbClr val="F6C344"/>
                </a:solidFill>
                <a:latin typeface="Calibri"/>
              </a:rPr>
              <a:t>Capacidad bajo carga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" y="3557016"/>
            <a:ext cx="3017520" cy="5760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50" b="0">
                <a:solidFill>
                  <a:srgbClr val="262B34"/>
                </a:solidFill>
                <a:latin typeface="Calibri"/>
              </a:rPr>
              <a:t>Aprox. 50 conversaciones simultáneas sin degradar la experiencia principal.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063240"/>
            <a:ext cx="33375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434840" y="3063240"/>
            <a:ext cx="73152" cy="11430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36007" y="3191256"/>
            <a:ext cx="3017520" cy="292608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 algn="l"/>
            <a:r>
              <a:rPr sz="1500" b="1">
                <a:solidFill>
                  <a:srgbClr val="00897B"/>
                </a:solidFill>
                <a:latin typeface="Calibri"/>
              </a:rPr>
              <a:t>Continuidad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36007" y="3557016"/>
            <a:ext cx="3017520" cy="5760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50" b="0">
                <a:solidFill>
                  <a:srgbClr val="262B34"/>
                </a:solidFill>
                <a:latin typeface="Calibri"/>
              </a:rPr>
              <a:t>El Bot conserva evento, intención, etapa y datos esenciales por 30 minutos.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063240"/>
            <a:ext cx="33375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092440" y="3063240"/>
            <a:ext cx="73152" cy="1143000"/>
          </a:xfrm>
          <a:prstGeom prst="rect">
            <a:avLst/>
          </a:prstGeom>
          <a:solidFill>
            <a:srgbClr val="EF6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93608" y="3191256"/>
            <a:ext cx="3017520" cy="292608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 algn="l"/>
            <a:r>
              <a:rPr sz="1500" b="1">
                <a:solidFill>
                  <a:srgbClr val="EF6351"/>
                </a:solidFill>
                <a:latin typeface="Calibri"/>
              </a:rPr>
              <a:t>Fallas parciales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3608" y="3557016"/>
            <a:ext cx="3017520" cy="576072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l"/>
            <a:r>
              <a:rPr sz="1250" b="0">
                <a:solidFill>
                  <a:srgbClr val="262B34"/>
                </a:solidFill>
                <a:latin typeface="Calibri"/>
              </a:rPr>
              <a:t>Ante DB lenta/caída o saturación, responde claro con cola o retry en menos de 10 segundos.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9875520" cy="50292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Trebuchet MS"/>
              </a:rPr>
              <a:t>PRINCIPIO ARQUITECTÓNICO CENTRAL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04120" y="621792"/>
            <a:ext cx="566928" cy="384048"/>
          </a:xfrm>
          <a:prstGeom prst="roundRect">
            <a:avLst/>
          </a:prstGeom>
          <a:solidFill>
            <a:srgbClr val="EF6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71632" y="621792"/>
            <a:ext cx="841248" cy="384048"/>
          </a:xfrm>
          <a:prstGeom prst="round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DDR-02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9875520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2ECCAE"/>
                </a:solidFill>
                <a:latin typeface="Calibri"/>
              </a:rPr>
              <a:t>El Bot emite señales. El sistema ejecuta operaciones de dominio.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514600"/>
            <a:ext cx="3063240" cy="1417320"/>
          </a:xfrm>
          <a:prstGeom prst="roundRect">
            <a:avLst/>
          </a:prstGeom>
          <a:solidFill>
            <a:srgbClr val="F5F8F8"/>
          </a:solidFill>
          <a:ln w="12700"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14400" y="2514600"/>
            <a:ext cx="73152" cy="141732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15568" y="2642616"/>
            <a:ext cx="2743200" cy="292608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l"/>
            <a:r>
              <a:rPr sz="1600" b="1">
                <a:solidFill>
                  <a:srgbClr val="00897B"/>
                </a:solidFill>
                <a:latin typeface="Calibri"/>
              </a:rPr>
              <a:t>Bot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3008376"/>
            <a:ext cx="2743200" cy="8503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262B34"/>
                </a:solidFill>
                <a:latin typeface="Calibri"/>
              </a:rPr>
              <a:t>Interpreta mensajes y decide qué pedir, pero no toca BD ni credenciales.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2514600"/>
            <a:ext cx="3063240" cy="1417320"/>
          </a:xfrm>
          <a:prstGeom prst="roundRect">
            <a:avLst/>
          </a:prstGeom>
          <a:solidFill>
            <a:srgbClr val="F5F8F8"/>
          </a:solidFill>
          <a:ln w="12700"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0" y="2514600"/>
            <a:ext cx="73152" cy="1417320"/>
          </a:xfrm>
          <a:prstGeom prst="rect">
            <a:avLst/>
          </a:prstGeom>
          <a:solidFill>
            <a:srgbClr val="EF6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73168" y="2642616"/>
            <a:ext cx="2743200" cy="292608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l"/>
            <a:r>
              <a:rPr sz="1600" b="1">
                <a:solidFill>
                  <a:srgbClr val="EF6351"/>
                </a:solidFill>
                <a:latin typeface="Calibri"/>
              </a:rPr>
              <a:t>Tool calls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8" y="3008376"/>
            <a:ext cx="2743200" cy="8503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262B34"/>
                </a:solidFill>
                <a:latin typeface="Calibri"/>
              </a:rPr>
              <a:t>Frontera única: contrato estable, versionable y auditable.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514600"/>
            <a:ext cx="3063240" cy="1417320"/>
          </a:xfrm>
          <a:prstGeom prst="roundRect">
            <a:avLst/>
          </a:prstGeom>
          <a:solidFill>
            <a:srgbClr val="F5F8F8"/>
          </a:solidFill>
          <a:ln w="12700"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600" y="2514600"/>
            <a:ext cx="73152" cy="1417320"/>
          </a:xfrm>
          <a:prstGeom prst="rect">
            <a:avLst/>
          </a:prstGeom>
          <a:solidFill>
            <a:srgbClr val="F6C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30768" y="2642616"/>
            <a:ext cx="2743200" cy="292608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l"/>
            <a:r>
              <a:rPr sz="1600" b="1">
                <a:solidFill>
                  <a:srgbClr val="F6C344"/>
                </a:solidFill>
                <a:latin typeface="Calibri"/>
              </a:rPr>
              <a:t>Orquestador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0768" y="3008376"/>
            <a:ext cx="2743200" cy="8503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262B34"/>
                </a:solidFill>
                <a:latin typeface="Calibri"/>
              </a:rPr>
              <a:t>Valida reglas, etapa comercial y ejecuta operaciones con efecto.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977639" y="3218688"/>
            <a:ext cx="594361" cy="0"/>
          </a:xfrm>
          <a:prstGeom prst="line">
            <a:avLst/>
          </a:prstGeom>
          <a:ln w="25400">
            <a:solidFill>
              <a:srgbClr val="2ECC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635240" y="3218688"/>
            <a:ext cx="594360" cy="0"/>
          </a:xfrm>
          <a:prstGeom prst="line">
            <a:avLst/>
          </a:prstGeom>
          <a:ln w="25400">
            <a:solidFill>
              <a:srgbClr val="2ECC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9966960" cy="50292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/>
            <a:r>
              <a:rPr sz="3000" b="1">
                <a:solidFill>
                  <a:srgbClr val="121C36"/>
                </a:solidFill>
                <a:latin typeface="Trebuchet MS"/>
              </a:rPr>
              <a:t>SERVICIOS CLAVE Y TRAZABILIDAD 1:1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89611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616C7D"/>
                </a:solidFill>
                <a:latin typeface="Calibri"/>
              </a:rPr>
              <a:t>Cada servicio responde a un caso de uso o requisito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35640" y="329184"/>
            <a:ext cx="658368" cy="384048"/>
          </a:xfrm>
          <a:prstGeom prst="roundRect">
            <a:avLst/>
          </a:prstGeom>
          <a:solidFill>
            <a:srgbClr val="12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143000"/>
            <a:ext cx="480060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143000"/>
            <a:ext cx="73152" cy="896112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271016"/>
            <a:ext cx="44805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00897B"/>
                </a:solidFill>
                <a:latin typeface="Calibri"/>
              </a:rPr>
              <a:t>MessageRouter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636776"/>
            <a:ext cx="448056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262B34"/>
                </a:solidFill>
                <a:latin typeface="Calibri"/>
              </a:rPr>
              <a:t>CU-COM-001 · entrada WhatsApp y conversación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143000"/>
            <a:ext cx="480060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72200" y="1143000"/>
            <a:ext cx="73152" cy="896112"/>
          </a:xfrm>
          <a:prstGeom prst="rect">
            <a:avLst/>
          </a:prstGeom>
          <a:solidFill>
            <a:srgbClr val="EF6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73368" y="1271016"/>
            <a:ext cx="44805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EF6351"/>
                </a:solidFill>
                <a:latin typeface="Calibri"/>
              </a:rPr>
              <a:t>AgentRunner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1636776"/>
            <a:ext cx="448056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262B34"/>
                </a:solidFill>
                <a:latin typeface="Calibri"/>
              </a:rPr>
              <a:t>CU-COM-002 · ejecución del run loop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194560"/>
            <a:ext cx="480060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2194560"/>
            <a:ext cx="73152" cy="896112"/>
          </a:xfrm>
          <a:prstGeom prst="rect">
            <a:avLst/>
          </a:prstGeom>
          <a:solidFill>
            <a:srgbClr val="695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6968" y="2322576"/>
            <a:ext cx="44805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6952BE"/>
                </a:solidFill>
                <a:latin typeface="Calibri"/>
              </a:rPr>
              <a:t>ContextBankService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2688336"/>
            <a:ext cx="448056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262B34"/>
                </a:solidFill>
                <a:latin typeface="Calibri"/>
              </a:rPr>
              <a:t>CU-COM-003 · contexto controlado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2194560"/>
            <a:ext cx="480060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72200" y="2194560"/>
            <a:ext cx="73152" cy="896112"/>
          </a:xfrm>
          <a:prstGeom prst="rect">
            <a:avLst/>
          </a:prstGeom>
          <a:solidFill>
            <a:srgbClr val="F6C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73368" y="2322576"/>
            <a:ext cx="44805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F6C344"/>
                </a:solidFill>
                <a:latin typeface="Calibri"/>
              </a:rPr>
              <a:t>CommercialStage + Scoring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368" y="2688336"/>
            <a:ext cx="448056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262B34"/>
                </a:solidFill>
                <a:latin typeface="Calibri"/>
              </a:rPr>
              <a:t>CU-COM-005 · etapa ≠ score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246120"/>
            <a:ext cx="480060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85800" y="3246120"/>
            <a:ext cx="73152" cy="896112"/>
          </a:xfrm>
          <a:prstGeom prst="rect">
            <a:avLst/>
          </a:prstGeom>
          <a:solidFill>
            <a:srgbClr val="12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86968" y="3374136"/>
            <a:ext cx="44805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121C36"/>
                </a:solidFill>
                <a:latin typeface="Calibri"/>
              </a:rPr>
              <a:t>QuotaService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" y="3739896"/>
            <a:ext cx="448056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262B34"/>
                </a:solidFill>
                <a:latin typeface="Calibri"/>
              </a:rPr>
              <a:t>CU-EVT-003 · reserva/liberación/bloqueo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3246120"/>
            <a:ext cx="480060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172200" y="3246120"/>
            <a:ext cx="73152" cy="896112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73368" y="3374136"/>
            <a:ext cx="44805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00897B"/>
                </a:solidFill>
                <a:latin typeface="Calibri"/>
              </a:rPr>
              <a:t>WaitingListService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368" y="3739896"/>
            <a:ext cx="448056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262B34"/>
                </a:solidFill>
                <a:latin typeface="Calibri"/>
              </a:rPr>
              <a:t>RF-EVT-06 · score + FIFO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4297679"/>
            <a:ext cx="480060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85800" y="4297679"/>
            <a:ext cx="73152" cy="896112"/>
          </a:xfrm>
          <a:prstGeom prst="rect">
            <a:avLst/>
          </a:prstGeom>
          <a:solidFill>
            <a:srgbClr val="EF6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86968" y="4425695"/>
            <a:ext cx="44805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EF6351"/>
                </a:solidFill>
                <a:latin typeface="Calibri"/>
              </a:rPr>
              <a:t>ConversationSessionStore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" y="4791455"/>
            <a:ext cx="448056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262B34"/>
                </a:solidFill>
                <a:latin typeface="Calibri"/>
              </a:rPr>
              <a:t>RNF-04 · continuidad 30 min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8C132-9E81-BD9C-180E-C962DBD76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56E548C-93E5-1B57-FED1-008F4FA197E7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5377DF-178D-1BFA-7695-58C66F1D2971}"/>
              </a:ext>
            </a:extLst>
          </p:cNvPr>
          <p:cNvSpPr txBox="1"/>
          <p:nvPr/>
        </p:nvSpPr>
        <p:spPr>
          <a:xfrm>
            <a:off x="2240280" y="1426464"/>
            <a:ext cx="530352" cy="201168"/>
          </a:xfrm>
          <a:prstGeom prst="rect">
            <a:avLst/>
          </a:prstGeom>
          <a:noFill/>
        </p:spPr>
        <p:txBody>
          <a:bodyPr wrap="square">
            <a:normAutofit fontScale="70000" lnSpcReduction="20000"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E42684-348C-74A7-7579-E4F3A33216CB}"/>
              </a:ext>
            </a:extLst>
          </p:cNvPr>
          <p:cNvSpPr txBox="1"/>
          <p:nvPr/>
        </p:nvSpPr>
        <p:spPr>
          <a:xfrm>
            <a:off x="5989320" y="1426464"/>
            <a:ext cx="530352" cy="201168"/>
          </a:xfrm>
          <a:prstGeom prst="rect">
            <a:avLst/>
          </a:prstGeom>
          <a:noFill/>
        </p:spPr>
        <p:txBody>
          <a:bodyPr wrap="square">
            <a:normAutofit fontScale="70000" lnSpcReduction="20000"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1577322-4C7F-FF60-7984-C231F665F3E5}"/>
              </a:ext>
            </a:extLst>
          </p:cNvPr>
          <p:cNvSpPr txBox="1"/>
          <p:nvPr/>
        </p:nvSpPr>
        <p:spPr>
          <a:xfrm>
            <a:off x="9738360" y="1426464"/>
            <a:ext cx="530352" cy="201168"/>
          </a:xfrm>
          <a:prstGeom prst="rect">
            <a:avLst/>
          </a:prstGeom>
          <a:noFill/>
        </p:spPr>
        <p:txBody>
          <a:bodyPr wrap="square">
            <a:normAutofit fontScale="70000" lnSpcReduction="20000"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B502CBD-AED2-65B4-9F05-6F12DCA81F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8213" y="0"/>
            <a:ext cx="90155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6199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9966960" cy="50292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/>
            <a:r>
              <a:rPr sz="3000" b="1">
                <a:solidFill>
                  <a:srgbClr val="121C36"/>
                </a:solidFill>
                <a:latin typeface="Trebuchet MS"/>
              </a:rPr>
              <a:t>CONTRATO DE TOOL CALLS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89611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616C7D"/>
                </a:solidFill>
                <a:latin typeface="Calibri"/>
              </a:rPr>
              <a:t>La interfaz entre Bot y Orquestador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35640" y="329184"/>
            <a:ext cx="658368" cy="384048"/>
          </a:xfrm>
          <a:prstGeom prst="roundRect">
            <a:avLst/>
          </a:prstGeom>
          <a:solidFill>
            <a:srgbClr val="12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25880"/>
            <a:ext cx="27432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1325880"/>
            <a:ext cx="73152" cy="123444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1453895"/>
            <a:ext cx="2423160" cy="292608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 algn="l"/>
            <a:r>
              <a:rPr sz="1500" b="1">
                <a:solidFill>
                  <a:srgbClr val="00897B"/>
                </a:solidFill>
                <a:latin typeface="Calibri"/>
              </a:rPr>
              <a:t>Lectura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1819656"/>
            <a:ext cx="2423160" cy="6675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262B34"/>
                </a:solidFill>
                <a:latin typeface="Calibri"/>
              </a:rPr>
              <a:t>get_general_context
get_event_context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9039" y="1325880"/>
            <a:ext cx="23774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749039" y="1325880"/>
            <a:ext cx="73152" cy="1234440"/>
          </a:xfrm>
          <a:prstGeom prst="rect">
            <a:avLst/>
          </a:prstGeom>
          <a:solidFill>
            <a:srgbClr val="EF6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950207" y="1453895"/>
            <a:ext cx="2057400" cy="292608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 algn="l"/>
            <a:r>
              <a:rPr sz="1500" b="1">
                <a:solidFill>
                  <a:srgbClr val="EF6351"/>
                </a:solidFill>
                <a:latin typeface="Calibri"/>
              </a:rPr>
              <a:t>Señales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207" y="1819656"/>
            <a:ext cx="2057400" cy="6675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262B34"/>
                </a:solidFill>
                <a:latin typeface="Calibri"/>
              </a:rPr>
              <a:t>emit_stage_signal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325880"/>
            <a:ext cx="29260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09360" y="1325880"/>
            <a:ext cx="73152" cy="1234440"/>
          </a:xfrm>
          <a:prstGeom prst="rect">
            <a:avLst/>
          </a:prstGeom>
          <a:solidFill>
            <a:srgbClr val="12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10528" y="1453895"/>
            <a:ext cx="2606040" cy="292608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 algn="l"/>
            <a:r>
              <a:rPr sz="1500" b="1">
                <a:solidFill>
                  <a:srgbClr val="121C36"/>
                </a:solidFill>
                <a:latin typeface="Calibri"/>
              </a:rPr>
              <a:t>Operaciones EVT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8" y="1819656"/>
            <a:ext cx="2606040" cy="667512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 algn="l"/>
            <a:r>
              <a:rPr sz="1100" b="0">
                <a:solidFill>
                  <a:srgbClr val="262B34"/>
                </a:solidFill>
                <a:latin typeface="Calibri"/>
              </a:rPr>
              <a:t>reserve_quota
release_quota
block_quota
register_waiting_list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18320" y="1325880"/>
            <a:ext cx="20116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418320" y="1325880"/>
            <a:ext cx="73152" cy="1234440"/>
          </a:xfrm>
          <a:prstGeom prst="rect">
            <a:avLst/>
          </a:prstGeom>
          <a:solidFill>
            <a:srgbClr val="695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19488" y="1453895"/>
            <a:ext cx="1691640" cy="292608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 algn="l"/>
            <a:r>
              <a:rPr sz="1500" b="1">
                <a:solidFill>
                  <a:srgbClr val="6952BE"/>
                </a:solidFill>
                <a:latin typeface="Calibri"/>
              </a:rPr>
              <a:t>Escalamiento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19488" y="1819656"/>
            <a:ext cx="1691640" cy="6675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262B34"/>
                </a:solidFill>
                <a:latin typeface="Calibri"/>
              </a:rPr>
              <a:t>request_human_handoff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34440" y="3703320"/>
            <a:ext cx="969264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234440" y="3703320"/>
            <a:ext cx="73152" cy="1024128"/>
          </a:xfrm>
          <a:prstGeom prst="rect">
            <a:avLst/>
          </a:prstGeom>
          <a:solidFill>
            <a:srgbClr val="F6C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435608" y="3831335"/>
            <a:ext cx="9372600" cy="292608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l"/>
            <a:r>
              <a:rPr sz="1600" b="1">
                <a:solidFill>
                  <a:srgbClr val="F6C344"/>
                </a:solidFill>
                <a:latin typeface="Calibri"/>
              </a:rPr>
              <a:t>Principios del contrato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35608" y="4197096"/>
            <a:ext cx="93726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50" b="0">
                <a:solidFill>
                  <a:srgbClr val="262B34"/>
                </a:solidFill>
                <a:latin typeface="Calibri"/>
              </a:rPr>
              <a:t>Idempotencia · validación por etapa · errores tipados · soporte multi-tenant · auditoría.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9966960" cy="50292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/>
            <a:r>
              <a:rPr sz="3000" b="1">
                <a:solidFill>
                  <a:srgbClr val="121C36"/>
                </a:solidFill>
                <a:latin typeface="Trebuchet MS"/>
              </a:rPr>
              <a:t>DECISIONES ADICIONALES Y TRADE-OFFS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89611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616C7D"/>
                </a:solidFill>
                <a:latin typeface="Calibri"/>
              </a:rPr>
              <a:t>Elecciones técnicas para mantener trazabilidad y control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35640" y="329184"/>
            <a:ext cx="658368" cy="384048"/>
          </a:xfrm>
          <a:prstGeom prst="roundRect">
            <a:avLst/>
          </a:prstGeom>
          <a:solidFill>
            <a:srgbClr val="12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333756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417320"/>
            <a:ext cx="73152" cy="150876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8408" y="1545336"/>
            <a:ext cx="3017520" cy="292608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l"/>
            <a:r>
              <a:rPr sz="1600" b="1">
                <a:solidFill>
                  <a:srgbClr val="00897B"/>
                </a:solidFill>
                <a:latin typeface="Calibri"/>
              </a:rPr>
              <a:t>Monorepo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1911095"/>
            <a:ext cx="3017520" cy="94183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262B34"/>
                </a:solidFill>
                <a:latin typeface="Calibri"/>
              </a:rPr>
              <a:t>Docs + código en un solo lugar para trazabilidad por PR y contratos verificables.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417320"/>
            <a:ext cx="333756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1417320"/>
            <a:ext cx="73152" cy="1508760"/>
          </a:xfrm>
          <a:prstGeom prst="rect">
            <a:avLst/>
          </a:prstGeom>
          <a:solidFill>
            <a:srgbClr val="EF6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36007" y="1545336"/>
            <a:ext cx="3017520" cy="292608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l"/>
            <a:r>
              <a:rPr sz="1600" b="1">
                <a:solidFill>
                  <a:srgbClr val="EF6351"/>
                </a:solidFill>
                <a:latin typeface="Calibri"/>
              </a:rPr>
              <a:t>Stack recomendado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1911095"/>
            <a:ext cx="3017520" cy="94183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262B34"/>
                </a:solidFill>
                <a:latin typeface="Calibri"/>
              </a:rPr>
              <a:t>TypeScript + NestJS + Prisma + Redis + BullMQ.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417320"/>
            <a:ext cx="333756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2440" y="1417320"/>
            <a:ext cx="73152" cy="1508760"/>
          </a:xfrm>
          <a:prstGeom prst="rect">
            <a:avLst/>
          </a:prstGeom>
          <a:solidFill>
            <a:srgbClr val="12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93608" y="1545336"/>
            <a:ext cx="3017520" cy="292608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l"/>
            <a:r>
              <a:rPr sz="1600" b="1">
                <a:solidFill>
                  <a:srgbClr val="121C36"/>
                </a:solidFill>
                <a:latin typeface="Calibri"/>
              </a:rPr>
              <a:t>Seguridad por frontera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1911095"/>
            <a:ext cx="3017520" cy="94183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262B34"/>
                </a:solidFill>
                <a:latin typeface="Calibri"/>
              </a:rPr>
              <a:t>Bot sin credenciales; el orquestador valida, registra y ejecuta.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28800" y="3977639"/>
            <a:ext cx="850392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828800" y="3977639"/>
            <a:ext cx="73152" cy="1115568"/>
          </a:xfrm>
          <a:prstGeom prst="rect">
            <a:avLst/>
          </a:prstGeom>
          <a:solidFill>
            <a:srgbClr val="695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029968" y="4105655"/>
            <a:ext cx="8183880" cy="292608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l"/>
            <a:r>
              <a:rPr sz="1600" b="1">
                <a:solidFill>
                  <a:srgbClr val="6952BE"/>
                </a:solidFill>
                <a:latin typeface="Calibri"/>
              </a:rPr>
              <a:t>Trade-off principal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29968" y="4471416"/>
            <a:ext cx="818388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50" b="0">
                <a:solidFill>
                  <a:srgbClr val="262B34"/>
                </a:solidFill>
                <a:latin typeface="Calibri"/>
              </a:rPr>
              <a:t>Más capas implican más diseño inicial, pero reducen acoplamiento, riesgo operativo y costo de crecimiento.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5486400" cy="594360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Trebuchet MS"/>
              </a:rPr>
              <a:t>CIERRE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00200"/>
            <a:ext cx="6766560" cy="914400"/>
          </a:xfrm>
          <a:prstGeom prst="roundRect">
            <a:avLst/>
          </a:prstGeom>
          <a:solidFill>
            <a:srgbClr val="F6F8F9"/>
          </a:solidFill>
          <a:ln w="12700"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14400" y="1600200"/>
            <a:ext cx="73152" cy="9144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" y="1728216"/>
            <a:ext cx="6446520" cy="292608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l"/>
            <a:r>
              <a:rPr sz="1700" b="1">
                <a:solidFill>
                  <a:srgbClr val="00897B"/>
                </a:solidFill>
                <a:latin typeface="Calibri"/>
              </a:rPr>
              <a:t>MVP claro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2093976"/>
            <a:ext cx="644652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>
                <a:solidFill>
                  <a:srgbClr val="262B34"/>
                </a:solidFill>
                <a:latin typeface="Calibri"/>
              </a:rPr>
              <a:t>WhatsApp responde dudas y guía sobre cupo/lista de espera.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926080"/>
            <a:ext cx="6766560" cy="914400"/>
          </a:xfrm>
          <a:prstGeom prst="roundRect">
            <a:avLst/>
          </a:prstGeom>
          <a:solidFill>
            <a:srgbClr val="F6F8F9"/>
          </a:solidFill>
          <a:ln w="12700"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14400" y="2926080"/>
            <a:ext cx="73152" cy="914400"/>
          </a:xfrm>
          <a:prstGeom prst="rect">
            <a:avLst/>
          </a:prstGeom>
          <a:solidFill>
            <a:srgbClr val="EF6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15568" y="3054096"/>
            <a:ext cx="6446520" cy="292608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l"/>
            <a:r>
              <a:rPr sz="1700" b="1">
                <a:solidFill>
                  <a:srgbClr val="EF6351"/>
                </a:solidFill>
                <a:latin typeface="Calibri"/>
              </a:rPr>
              <a:t>Diseño estable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3419856"/>
            <a:ext cx="644652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>
                <a:solidFill>
                  <a:srgbClr val="262B34"/>
                </a:solidFill>
                <a:latin typeface="Calibri"/>
              </a:rPr>
              <a:t>Separación de concerns + tool calls como contrato.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251960"/>
            <a:ext cx="6766560" cy="914400"/>
          </a:xfrm>
          <a:prstGeom prst="roundRect">
            <a:avLst/>
          </a:prstGeom>
          <a:solidFill>
            <a:srgbClr val="F6F8F9"/>
          </a:solidFill>
          <a:ln w="12700"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14400" y="4251960"/>
            <a:ext cx="73152" cy="914400"/>
          </a:xfrm>
          <a:prstGeom prst="rect">
            <a:avLst/>
          </a:prstGeom>
          <a:solidFill>
            <a:srgbClr val="F6C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15568" y="4379976"/>
            <a:ext cx="6446520" cy="292608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l"/>
            <a:r>
              <a:rPr sz="1700" b="1">
                <a:solidFill>
                  <a:srgbClr val="F6C344"/>
                </a:solidFill>
                <a:latin typeface="Calibri"/>
              </a:rPr>
              <a:t>Calidad verificable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4745736"/>
            <a:ext cx="644652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>
                <a:solidFill>
                  <a:srgbClr val="262B34"/>
                </a:solidFill>
                <a:latin typeface="Calibri"/>
              </a:rPr>
              <a:t>Rendimiento, continuidad y fallos con métricas concretas.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951976" y="1682495"/>
            <a:ext cx="1193292" cy="416053"/>
          </a:xfrm>
          <a:prstGeom prst="line">
            <a:avLst/>
          </a:prstGeom>
          <a:ln w="15240">
            <a:solidFill>
              <a:srgbClr val="A0BE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951976" y="1682495"/>
            <a:ext cx="384048" cy="1252728"/>
          </a:xfrm>
          <a:prstGeom prst="line">
            <a:avLst/>
          </a:prstGeom>
          <a:ln w="15240">
            <a:solidFill>
              <a:srgbClr val="A0BE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145268" y="2098548"/>
            <a:ext cx="608076" cy="1248156"/>
          </a:xfrm>
          <a:prstGeom prst="line">
            <a:avLst/>
          </a:prstGeom>
          <a:ln w="15240">
            <a:solidFill>
              <a:srgbClr val="A0BE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336024" y="2935223"/>
            <a:ext cx="1417320" cy="411481"/>
          </a:xfrm>
          <a:prstGeom prst="line">
            <a:avLst/>
          </a:prstGeom>
          <a:ln w="15240">
            <a:solidFill>
              <a:srgbClr val="A0BE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336024" y="2935223"/>
            <a:ext cx="429768" cy="1207009"/>
          </a:xfrm>
          <a:prstGeom prst="line">
            <a:avLst/>
          </a:prstGeom>
          <a:ln w="15240">
            <a:solidFill>
              <a:srgbClr val="A0BE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753344" y="3346704"/>
            <a:ext cx="416052" cy="1330452"/>
          </a:xfrm>
          <a:prstGeom prst="line">
            <a:avLst/>
          </a:prstGeom>
          <a:ln w="15240">
            <a:solidFill>
              <a:srgbClr val="A0BE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8997696" y="4142232"/>
            <a:ext cx="768096" cy="1243584"/>
          </a:xfrm>
          <a:prstGeom prst="line">
            <a:avLst/>
          </a:prstGeom>
          <a:ln w="15240">
            <a:solidFill>
              <a:srgbClr val="A0BE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8997696" y="4677156"/>
            <a:ext cx="2171700" cy="708660"/>
          </a:xfrm>
          <a:prstGeom prst="line">
            <a:avLst/>
          </a:prstGeom>
          <a:ln w="15240">
            <a:solidFill>
              <a:srgbClr val="A0BE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8823960" y="1554480"/>
            <a:ext cx="256032" cy="256032"/>
          </a:xfrm>
          <a:prstGeom prst="ellipse">
            <a:avLst/>
          </a:prstGeom>
          <a:solidFill>
            <a:srgbClr val="2ECC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0058400" y="2011680"/>
            <a:ext cx="173736" cy="173736"/>
          </a:xfrm>
          <a:prstGeom prst="ellipse">
            <a:avLst/>
          </a:prstGeom>
          <a:solidFill>
            <a:srgbClr val="EF6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235440" y="2834639"/>
            <a:ext cx="201168" cy="201168"/>
          </a:xfrm>
          <a:prstGeom prst="ellipse">
            <a:avLst/>
          </a:prstGeom>
          <a:solidFill>
            <a:srgbClr val="F6C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0607040" y="3200400"/>
            <a:ext cx="292608" cy="292608"/>
          </a:xfrm>
          <a:prstGeom prst="ellipse">
            <a:avLst/>
          </a:prstGeom>
          <a:solidFill>
            <a:srgbClr val="2ECC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692640" y="4069080"/>
            <a:ext cx="146304" cy="146304"/>
          </a:xfrm>
          <a:prstGeom prst="ellipse">
            <a:avLst/>
          </a:prstGeom>
          <a:solidFill>
            <a:srgbClr val="695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1064240" y="4572000"/>
            <a:ext cx="210312" cy="210312"/>
          </a:xfrm>
          <a:prstGeom prst="ellipse">
            <a:avLst/>
          </a:prstGeom>
          <a:solidFill>
            <a:srgbClr val="EF6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915400" y="5303520"/>
            <a:ext cx="164592" cy="164592"/>
          </a:xfrm>
          <a:prstGeom prst="ellips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914400" y="5715000"/>
            <a:ext cx="5669280" cy="420624"/>
          </a:xfrm>
          <a:prstGeom prst="roundRect">
            <a:avLst/>
          </a:prstGeom>
          <a:solidFill>
            <a:srgbClr val="2ECC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21C36"/>
                </a:solidFill>
                <a:latin typeface="Calibri"/>
              </a:rPr>
              <a:t>El sistema puede crecer por módulos sin volver a empezar.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1010</Words>
  <Application>Microsoft Office PowerPoint</Application>
  <PresentationFormat>Panorámica</PresentationFormat>
  <Paragraphs>218</Paragraphs>
  <Slides>20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4" baseType="lpstr">
      <vt:lpstr>Arial</vt:lpstr>
      <vt:lpstr>Calibri</vt:lpstr>
      <vt:lpstr>Trebuchet MS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Max Carrillo Alvarado</cp:lastModifiedBy>
  <cp:revision>3</cp:revision>
  <dcterms:created xsi:type="dcterms:W3CDTF">2013-01-27T09:14:16Z</dcterms:created>
  <dcterms:modified xsi:type="dcterms:W3CDTF">2026-05-27T15:37:53Z</dcterms:modified>
  <cp:category/>
</cp:coreProperties>
</file>